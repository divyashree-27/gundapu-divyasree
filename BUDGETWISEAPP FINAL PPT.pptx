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66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8400" cy="56586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7655"/>
            <a:ext cx="10058400" cy="5659120"/>
          </a:xfrm>
          <a:custGeom>
            <a:avLst/>
            <a:gdLst/>
            <a:ahLst/>
            <a:cxnLst/>
            <a:rect l="l" t="t" r="r" b="b"/>
            <a:pathLst>
              <a:path w="10058400" h="5659120">
                <a:moveTo>
                  <a:pt x="10058400" y="5658611"/>
                </a:moveTo>
                <a:lnTo>
                  <a:pt x="0" y="5658611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5658611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518" y="1134814"/>
            <a:ext cx="9931363" cy="47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6222" y="1706430"/>
            <a:ext cx="9331960" cy="4853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0902" y="2520074"/>
            <a:ext cx="89928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0" dirty="0">
                <a:solidFill>
                  <a:srgbClr val="FFFFFF"/>
                </a:solidFill>
                <a:latin typeface="Calibri"/>
                <a:cs typeface="Calibri"/>
              </a:rPr>
              <a:t>BUDGETWISE</a:t>
            </a:r>
            <a:r>
              <a:rPr sz="3950" b="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950" b="0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3950" b="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950" b="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3950" b="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950" b="0" dirty="0">
                <a:solidFill>
                  <a:srgbClr val="FFFFFF"/>
                </a:solidFill>
                <a:latin typeface="Calibri"/>
                <a:cs typeface="Calibri"/>
              </a:rPr>
              <a:t>FORECASTING</a:t>
            </a:r>
            <a:r>
              <a:rPr sz="3950" b="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950" b="0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3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48839" y="1057655"/>
            <a:ext cx="7909559" cy="5659120"/>
          </a:xfrm>
          <a:custGeom>
            <a:avLst/>
            <a:gdLst/>
            <a:ahLst/>
            <a:cxnLst/>
            <a:rect l="l" t="t" r="r" b="b"/>
            <a:pathLst>
              <a:path w="7909559" h="5659120">
                <a:moveTo>
                  <a:pt x="0" y="5658611"/>
                </a:moveTo>
                <a:lnTo>
                  <a:pt x="7909559" y="5658611"/>
                </a:lnTo>
                <a:lnTo>
                  <a:pt x="7909559" y="0"/>
                </a:lnTo>
                <a:lnTo>
                  <a:pt x="0" y="0"/>
                </a:lnTo>
                <a:lnTo>
                  <a:pt x="0" y="5658611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35628" y="2373804"/>
            <a:ext cx="7478395" cy="855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450" b="0" spc="-50" dirty="0">
                <a:latin typeface="Times New Roman"/>
                <a:cs typeface="Times New Roman"/>
              </a:rPr>
              <a:t>PROJECT</a:t>
            </a:r>
            <a:r>
              <a:rPr sz="5450" b="0" spc="-85" dirty="0">
                <a:latin typeface="Times New Roman"/>
                <a:cs typeface="Times New Roman"/>
              </a:rPr>
              <a:t> </a:t>
            </a:r>
            <a:r>
              <a:rPr sz="5450" b="0" dirty="0">
                <a:latin typeface="Times New Roman"/>
                <a:cs typeface="Times New Roman"/>
              </a:rPr>
              <a:t>AT</a:t>
            </a:r>
            <a:r>
              <a:rPr sz="5450" b="0" spc="-85" dirty="0">
                <a:latin typeface="Times New Roman"/>
                <a:cs typeface="Times New Roman"/>
              </a:rPr>
              <a:t> </a:t>
            </a:r>
            <a:r>
              <a:rPr sz="5450" b="0" spc="155" dirty="0">
                <a:latin typeface="Times New Roman"/>
                <a:cs typeface="Times New Roman"/>
              </a:rPr>
              <a:t>A</a:t>
            </a:r>
            <a:r>
              <a:rPr sz="5450" b="0" spc="-125" dirty="0">
                <a:latin typeface="Times New Roman"/>
                <a:cs typeface="Times New Roman"/>
              </a:rPr>
              <a:t> </a:t>
            </a:r>
            <a:r>
              <a:rPr sz="5450" b="0" spc="-270" dirty="0">
                <a:latin typeface="Times New Roman"/>
                <a:cs typeface="Times New Roman"/>
              </a:rPr>
              <a:t>GLANCE</a:t>
            </a:r>
            <a:endParaRPr sz="54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333" y="1052321"/>
            <a:ext cx="2738755" cy="5669280"/>
            <a:chOff x="-5333" y="1052321"/>
            <a:chExt cx="2738755" cy="5669280"/>
          </a:xfrm>
        </p:grpSpPr>
        <p:sp>
          <p:nvSpPr>
            <p:cNvPr id="5" name="object 5"/>
            <p:cNvSpPr/>
            <p:nvPr/>
          </p:nvSpPr>
          <p:spPr>
            <a:xfrm>
              <a:off x="2136648" y="1217675"/>
              <a:ext cx="591820" cy="1207135"/>
            </a:xfrm>
            <a:custGeom>
              <a:avLst/>
              <a:gdLst/>
              <a:ahLst/>
              <a:cxnLst/>
              <a:rect l="l" t="t" r="r" b="b"/>
              <a:pathLst>
                <a:path w="591819" h="1207135">
                  <a:moveTo>
                    <a:pt x="0" y="1207008"/>
                  </a:moveTo>
                  <a:lnTo>
                    <a:pt x="0" y="0"/>
                  </a:lnTo>
                  <a:lnTo>
                    <a:pt x="591311" y="603504"/>
                  </a:lnTo>
                  <a:lnTo>
                    <a:pt x="0" y="1207008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36648" y="1217675"/>
              <a:ext cx="591820" cy="1207135"/>
            </a:xfrm>
            <a:custGeom>
              <a:avLst/>
              <a:gdLst/>
              <a:ahLst/>
              <a:cxnLst/>
              <a:rect l="l" t="t" r="r" b="b"/>
              <a:pathLst>
                <a:path w="591819" h="1207135">
                  <a:moveTo>
                    <a:pt x="0" y="0"/>
                  </a:moveTo>
                  <a:lnTo>
                    <a:pt x="591311" y="603504"/>
                  </a:lnTo>
                  <a:lnTo>
                    <a:pt x="0" y="1207008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61032" y="1263395"/>
              <a:ext cx="527685" cy="1115695"/>
            </a:xfrm>
            <a:custGeom>
              <a:avLst/>
              <a:gdLst/>
              <a:ahLst/>
              <a:cxnLst/>
              <a:rect l="l" t="t" r="r" b="b"/>
              <a:pathLst>
                <a:path w="527685" h="1115695">
                  <a:moveTo>
                    <a:pt x="0" y="1115567"/>
                  </a:moveTo>
                  <a:lnTo>
                    <a:pt x="0" y="0"/>
                  </a:lnTo>
                  <a:lnTo>
                    <a:pt x="527303" y="557783"/>
                  </a:lnTo>
                  <a:lnTo>
                    <a:pt x="0" y="1115567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61032" y="1263395"/>
              <a:ext cx="527685" cy="1115695"/>
            </a:xfrm>
            <a:custGeom>
              <a:avLst/>
              <a:gdLst/>
              <a:ahLst/>
              <a:cxnLst/>
              <a:rect l="l" t="t" r="r" b="b"/>
              <a:pathLst>
                <a:path w="527685" h="1115695">
                  <a:moveTo>
                    <a:pt x="0" y="0"/>
                  </a:moveTo>
                  <a:lnTo>
                    <a:pt x="527303" y="557783"/>
                  </a:lnTo>
                  <a:lnTo>
                    <a:pt x="0" y="1115567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32076" y="1057656"/>
              <a:ext cx="17145" cy="5659120"/>
            </a:xfrm>
            <a:custGeom>
              <a:avLst/>
              <a:gdLst/>
              <a:ahLst/>
              <a:cxnLst/>
              <a:rect l="l" t="t" r="r" b="b"/>
              <a:pathLst>
                <a:path w="17144" h="5659120">
                  <a:moveTo>
                    <a:pt x="0" y="5658611"/>
                  </a:moveTo>
                  <a:lnTo>
                    <a:pt x="16764" y="5658611"/>
                  </a:lnTo>
                  <a:lnTo>
                    <a:pt x="16764" y="0"/>
                  </a:lnTo>
                  <a:lnTo>
                    <a:pt x="0" y="0"/>
                  </a:lnTo>
                  <a:lnTo>
                    <a:pt x="0" y="5658611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057655"/>
              <a:ext cx="2148840" cy="5659120"/>
            </a:xfrm>
            <a:custGeom>
              <a:avLst/>
              <a:gdLst/>
              <a:ahLst/>
              <a:cxnLst/>
              <a:rect l="l" t="t" r="r" b="b"/>
              <a:pathLst>
                <a:path w="2148840" h="5659120">
                  <a:moveTo>
                    <a:pt x="2148840" y="0"/>
                  </a:moveTo>
                  <a:lnTo>
                    <a:pt x="2148840" y="5658612"/>
                  </a:lnTo>
                  <a:lnTo>
                    <a:pt x="0" y="5658612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1057656"/>
              <a:ext cx="2132330" cy="5659120"/>
            </a:xfrm>
            <a:custGeom>
              <a:avLst/>
              <a:gdLst/>
              <a:ahLst/>
              <a:cxnLst/>
              <a:rect l="l" t="t" r="r" b="b"/>
              <a:pathLst>
                <a:path w="2132330" h="5659120">
                  <a:moveTo>
                    <a:pt x="2132075" y="5658611"/>
                  </a:moveTo>
                  <a:lnTo>
                    <a:pt x="0" y="5658611"/>
                  </a:lnTo>
                  <a:lnTo>
                    <a:pt x="0" y="0"/>
                  </a:lnTo>
                  <a:lnTo>
                    <a:pt x="2132075" y="0"/>
                  </a:lnTo>
                  <a:lnTo>
                    <a:pt x="2132075" y="5658611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1057655"/>
              <a:ext cx="2132330" cy="5659120"/>
            </a:xfrm>
            <a:custGeom>
              <a:avLst/>
              <a:gdLst/>
              <a:ahLst/>
              <a:cxnLst/>
              <a:rect l="l" t="t" r="r" b="b"/>
              <a:pathLst>
                <a:path w="2132330" h="5659120">
                  <a:moveTo>
                    <a:pt x="2132076" y="0"/>
                  </a:moveTo>
                  <a:lnTo>
                    <a:pt x="2132076" y="5658612"/>
                  </a:lnTo>
                  <a:lnTo>
                    <a:pt x="0" y="5658612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61032" y="1243583"/>
              <a:ext cx="527685" cy="1153795"/>
            </a:xfrm>
            <a:custGeom>
              <a:avLst/>
              <a:gdLst/>
              <a:ahLst/>
              <a:cxnLst/>
              <a:rect l="l" t="t" r="r" b="b"/>
              <a:pathLst>
                <a:path w="527685" h="1153795">
                  <a:moveTo>
                    <a:pt x="0" y="1153667"/>
                  </a:moveTo>
                  <a:lnTo>
                    <a:pt x="0" y="0"/>
                  </a:lnTo>
                  <a:lnTo>
                    <a:pt x="527303" y="577595"/>
                  </a:lnTo>
                  <a:lnTo>
                    <a:pt x="0" y="1153667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61032" y="1243583"/>
              <a:ext cx="527685" cy="1153795"/>
            </a:xfrm>
            <a:custGeom>
              <a:avLst/>
              <a:gdLst/>
              <a:ahLst/>
              <a:cxnLst/>
              <a:rect l="l" t="t" r="r" b="b"/>
              <a:pathLst>
                <a:path w="527685" h="1153795">
                  <a:moveTo>
                    <a:pt x="0" y="0"/>
                  </a:moveTo>
                  <a:lnTo>
                    <a:pt x="527303" y="577595"/>
                  </a:lnTo>
                  <a:lnTo>
                    <a:pt x="0" y="1153667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335736" y="3672931"/>
            <a:ext cx="3266440" cy="2129790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50" b="1" dirty="0">
                <a:latin typeface="Calibri"/>
                <a:cs typeface="Calibri"/>
              </a:rPr>
              <a:t>TEAM</a:t>
            </a:r>
            <a:r>
              <a:rPr sz="2650" b="1" spc="-95" dirty="0">
                <a:latin typeface="Calibri"/>
                <a:cs typeface="Calibri"/>
              </a:rPr>
              <a:t> </a:t>
            </a:r>
            <a:r>
              <a:rPr sz="2650" b="1" spc="-10" dirty="0">
                <a:latin typeface="Calibri"/>
                <a:cs typeface="Calibri"/>
              </a:rPr>
              <a:t>MEMBERS:</a:t>
            </a:r>
            <a:endParaRPr sz="2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lang="en-US" sz="1950" b="1" spc="-20" dirty="0">
                <a:latin typeface="Calibri"/>
                <a:cs typeface="Calibri"/>
              </a:rPr>
              <a:t>GUNDAPU DIVYA SREE</a:t>
            </a:r>
            <a:endParaRPr sz="1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2650" b="1" dirty="0">
                <a:latin typeface="Calibri"/>
                <a:cs typeface="Calibri"/>
              </a:rPr>
              <a:t>GUIDED</a:t>
            </a:r>
            <a:r>
              <a:rPr sz="2650" b="1" spc="-130" dirty="0">
                <a:latin typeface="Calibri"/>
                <a:cs typeface="Calibri"/>
              </a:rPr>
              <a:t> </a:t>
            </a:r>
            <a:r>
              <a:rPr sz="2650" b="1" dirty="0">
                <a:latin typeface="Calibri"/>
                <a:cs typeface="Calibri"/>
              </a:rPr>
              <a:t>BY(</a:t>
            </a:r>
            <a:r>
              <a:rPr sz="2650" b="1" spc="-110" dirty="0">
                <a:latin typeface="Calibri"/>
                <a:cs typeface="Calibri"/>
              </a:rPr>
              <a:t> </a:t>
            </a:r>
            <a:r>
              <a:rPr sz="2650" b="1" spc="-10" dirty="0">
                <a:latin typeface="Calibri"/>
                <a:cs typeface="Calibri"/>
              </a:rPr>
              <a:t>MENTOR</a:t>
            </a:r>
            <a:r>
              <a:rPr sz="2650" b="1" spc="-114" dirty="0">
                <a:latin typeface="Calibri"/>
                <a:cs typeface="Calibri"/>
              </a:rPr>
              <a:t> </a:t>
            </a:r>
            <a:r>
              <a:rPr sz="2650" b="1" spc="-25" dirty="0">
                <a:latin typeface="Calibri"/>
                <a:cs typeface="Calibri"/>
              </a:rPr>
              <a:t>):</a:t>
            </a:r>
            <a:endParaRPr sz="2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950" b="1" dirty="0">
                <a:latin typeface="Calibri"/>
                <a:cs typeface="Calibri"/>
              </a:rPr>
              <a:t>SANGEETHA</a:t>
            </a:r>
            <a:r>
              <a:rPr sz="1950" b="1" spc="35" dirty="0">
                <a:latin typeface="Calibri"/>
                <a:cs typeface="Calibri"/>
              </a:rPr>
              <a:t> </a:t>
            </a:r>
            <a:r>
              <a:rPr sz="1950" b="1" spc="-10" dirty="0">
                <a:latin typeface="Calibri"/>
                <a:cs typeface="Calibri"/>
              </a:rPr>
              <a:t>MAHALINGAM</a:t>
            </a:r>
            <a:endParaRPr sz="19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71994" y="1052321"/>
            <a:ext cx="2491740" cy="5669280"/>
            <a:chOff x="7571994" y="1052321"/>
            <a:chExt cx="2491740" cy="5669280"/>
          </a:xfrm>
        </p:grpSpPr>
        <p:sp>
          <p:nvSpPr>
            <p:cNvPr id="3" name="object 3"/>
            <p:cNvSpPr/>
            <p:nvPr/>
          </p:nvSpPr>
          <p:spPr>
            <a:xfrm>
              <a:off x="7577328" y="1057656"/>
              <a:ext cx="2481580" cy="5659120"/>
            </a:xfrm>
            <a:custGeom>
              <a:avLst/>
              <a:gdLst/>
              <a:ahLst/>
              <a:cxnLst/>
              <a:rect l="l" t="t" r="r" b="b"/>
              <a:pathLst>
                <a:path w="2481579" h="5659120">
                  <a:moveTo>
                    <a:pt x="2481071" y="5658611"/>
                  </a:moveTo>
                  <a:lnTo>
                    <a:pt x="0" y="5658611"/>
                  </a:lnTo>
                  <a:lnTo>
                    <a:pt x="0" y="0"/>
                  </a:lnTo>
                  <a:lnTo>
                    <a:pt x="2481071" y="0"/>
                  </a:lnTo>
                  <a:lnTo>
                    <a:pt x="2481071" y="5658611"/>
                  </a:lnTo>
                  <a:close/>
                </a:path>
              </a:pathLst>
            </a:custGeom>
            <a:solidFill>
              <a:srgbClr val="648C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7328" y="1057655"/>
              <a:ext cx="2481580" cy="5659120"/>
            </a:xfrm>
            <a:custGeom>
              <a:avLst/>
              <a:gdLst/>
              <a:ahLst/>
              <a:cxnLst/>
              <a:rect l="l" t="t" r="r" b="b"/>
              <a:pathLst>
                <a:path w="2481579" h="5659120">
                  <a:moveTo>
                    <a:pt x="2481071" y="0"/>
                  </a:moveTo>
                  <a:lnTo>
                    <a:pt x="2481071" y="5658612"/>
                  </a:lnTo>
                  <a:lnTo>
                    <a:pt x="0" y="5658612"/>
                  </a:lnTo>
                  <a:lnTo>
                    <a:pt x="0" y="0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5333" y="1052321"/>
            <a:ext cx="8016240" cy="5669280"/>
            <a:chOff x="-5333" y="1052321"/>
            <a:chExt cx="8016240" cy="5669280"/>
          </a:xfrm>
        </p:grpSpPr>
        <p:sp>
          <p:nvSpPr>
            <p:cNvPr id="6" name="object 6"/>
            <p:cNvSpPr/>
            <p:nvPr/>
          </p:nvSpPr>
          <p:spPr>
            <a:xfrm>
              <a:off x="0" y="1057656"/>
              <a:ext cx="2433955" cy="5659120"/>
            </a:xfrm>
            <a:custGeom>
              <a:avLst/>
              <a:gdLst/>
              <a:ahLst/>
              <a:cxnLst/>
              <a:rect l="l" t="t" r="r" b="b"/>
              <a:pathLst>
                <a:path w="2433955" h="5659120">
                  <a:moveTo>
                    <a:pt x="2433828" y="5658611"/>
                  </a:moveTo>
                  <a:lnTo>
                    <a:pt x="0" y="5658611"/>
                  </a:lnTo>
                  <a:lnTo>
                    <a:pt x="0" y="0"/>
                  </a:lnTo>
                  <a:lnTo>
                    <a:pt x="2433828" y="0"/>
                  </a:lnTo>
                  <a:lnTo>
                    <a:pt x="2433828" y="5658611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057655"/>
              <a:ext cx="2433955" cy="5659120"/>
            </a:xfrm>
            <a:custGeom>
              <a:avLst/>
              <a:gdLst/>
              <a:ahLst/>
              <a:cxnLst/>
              <a:rect l="l" t="t" r="r" b="b"/>
              <a:pathLst>
                <a:path w="2433955" h="5659120">
                  <a:moveTo>
                    <a:pt x="2433828" y="0"/>
                  </a:moveTo>
                  <a:lnTo>
                    <a:pt x="2433828" y="5658612"/>
                  </a:lnTo>
                  <a:lnTo>
                    <a:pt x="0" y="5658612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3827" y="1057656"/>
              <a:ext cx="2506980" cy="5659120"/>
            </a:xfrm>
            <a:custGeom>
              <a:avLst/>
              <a:gdLst/>
              <a:ahLst/>
              <a:cxnLst/>
              <a:rect l="l" t="t" r="r" b="b"/>
              <a:pathLst>
                <a:path w="2506979" h="5659120">
                  <a:moveTo>
                    <a:pt x="2506979" y="5658611"/>
                  </a:moveTo>
                  <a:lnTo>
                    <a:pt x="0" y="5658611"/>
                  </a:lnTo>
                  <a:lnTo>
                    <a:pt x="0" y="0"/>
                  </a:lnTo>
                  <a:lnTo>
                    <a:pt x="2506979" y="0"/>
                  </a:lnTo>
                  <a:lnTo>
                    <a:pt x="2506979" y="5658611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33828" y="1057655"/>
              <a:ext cx="2506980" cy="5659120"/>
            </a:xfrm>
            <a:custGeom>
              <a:avLst/>
              <a:gdLst/>
              <a:ahLst/>
              <a:cxnLst/>
              <a:rect l="l" t="t" r="r" b="b"/>
              <a:pathLst>
                <a:path w="2506979" h="5659120">
                  <a:moveTo>
                    <a:pt x="2506979" y="0"/>
                  </a:moveTo>
                  <a:lnTo>
                    <a:pt x="2506979" y="5658612"/>
                  </a:lnTo>
                  <a:lnTo>
                    <a:pt x="0" y="5658612"/>
                  </a:lnTo>
                  <a:lnTo>
                    <a:pt x="0" y="0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40807" y="1057656"/>
              <a:ext cx="2636520" cy="5659120"/>
            </a:xfrm>
            <a:custGeom>
              <a:avLst/>
              <a:gdLst/>
              <a:ahLst/>
              <a:cxnLst/>
              <a:rect l="l" t="t" r="r" b="b"/>
              <a:pathLst>
                <a:path w="2636520" h="5659120">
                  <a:moveTo>
                    <a:pt x="2636520" y="5658611"/>
                  </a:moveTo>
                  <a:lnTo>
                    <a:pt x="0" y="5658611"/>
                  </a:lnTo>
                  <a:lnTo>
                    <a:pt x="0" y="0"/>
                  </a:lnTo>
                  <a:lnTo>
                    <a:pt x="2636520" y="0"/>
                  </a:lnTo>
                  <a:lnTo>
                    <a:pt x="2636520" y="5658611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40807" y="1057655"/>
              <a:ext cx="2636520" cy="5659120"/>
            </a:xfrm>
            <a:custGeom>
              <a:avLst/>
              <a:gdLst/>
              <a:ahLst/>
              <a:cxnLst/>
              <a:rect l="l" t="t" r="r" b="b"/>
              <a:pathLst>
                <a:path w="2636520" h="5659120">
                  <a:moveTo>
                    <a:pt x="2636520" y="0"/>
                  </a:moveTo>
                  <a:lnTo>
                    <a:pt x="2636520" y="5658612"/>
                  </a:lnTo>
                  <a:lnTo>
                    <a:pt x="0" y="5658612"/>
                  </a:lnTo>
                  <a:lnTo>
                    <a:pt x="0" y="0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30780" y="1057655"/>
              <a:ext cx="445134" cy="1068705"/>
            </a:xfrm>
            <a:custGeom>
              <a:avLst/>
              <a:gdLst/>
              <a:ahLst/>
              <a:cxnLst/>
              <a:rect l="l" t="t" r="r" b="b"/>
              <a:pathLst>
                <a:path w="445135" h="1068705">
                  <a:moveTo>
                    <a:pt x="0" y="1068323"/>
                  </a:moveTo>
                  <a:lnTo>
                    <a:pt x="0" y="0"/>
                  </a:lnTo>
                  <a:lnTo>
                    <a:pt x="184245" y="0"/>
                  </a:lnTo>
                  <a:lnTo>
                    <a:pt x="445008" y="394715"/>
                  </a:lnTo>
                  <a:lnTo>
                    <a:pt x="0" y="1068323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30780" y="1057655"/>
              <a:ext cx="445134" cy="1068705"/>
            </a:xfrm>
            <a:custGeom>
              <a:avLst/>
              <a:gdLst/>
              <a:ahLst/>
              <a:cxnLst/>
              <a:rect l="l" t="t" r="r" b="b"/>
              <a:pathLst>
                <a:path w="445135" h="1068705">
                  <a:moveTo>
                    <a:pt x="184245" y="0"/>
                  </a:moveTo>
                  <a:lnTo>
                    <a:pt x="445008" y="394715"/>
                  </a:lnTo>
                  <a:lnTo>
                    <a:pt x="0" y="1068323"/>
                  </a:lnTo>
                  <a:lnTo>
                    <a:pt x="0" y="0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0807" y="1057655"/>
              <a:ext cx="454659" cy="1094740"/>
            </a:xfrm>
            <a:custGeom>
              <a:avLst/>
              <a:gdLst/>
              <a:ahLst/>
              <a:cxnLst/>
              <a:rect l="l" t="t" r="r" b="b"/>
              <a:pathLst>
                <a:path w="454660" h="1094739">
                  <a:moveTo>
                    <a:pt x="0" y="1094232"/>
                  </a:moveTo>
                  <a:lnTo>
                    <a:pt x="0" y="0"/>
                  </a:lnTo>
                  <a:lnTo>
                    <a:pt x="165522" y="0"/>
                  </a:lnTo>
                  <a:lnTo>
                    <a:pt x="454152" y="425195"/>
                  </a:lnTo>
                  <a:lnTo>
                    <a:pt x="0" y="1094232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0807" y="1057655"/>
              <a:ext cx="454659" cy="1094740"/>
            </a:xfrm>
            <a:custGeom>
              <a:avLst/>
              <a:gdLst/>
              <a:ahLst/>
              <a:cxnLst/>
              <a:rect l="l" t="t" r="r" b="b"/>
              <a:pathLst>
                <a:path w="454660" h="1094739">
                  <a:moveTo>
                    <a:pt x="165522" y="0"/>
                  </a:moveTo>
                  <a:lnTo>
                    <a:pt x="454152" y="425195"/>
                  </a:lnTo>
                  <a:lnTo>
                    <a:pt x="0" y="1094232"/>
                  </a:lnTo>
                  <a:lnTo>
                    <a:pt x="0" y="0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63612" y="1057655"/>
              <a:ext cx="441959" cy="1152525"/>
            </a:xfrm>
            <a:custGeom>
              <a:avLst/>
              <a:gdLst/>
              <a:ahLst/>
              <a:cxnLst/>
              <a:rect l="l" t="t" r="r" b="b"/>
              <a:pathLst>
                <a:path w="441959" h="1152525">
                  <a:moveTo>
                    <a:pt x="0" y="1152144"/>
                  </a:moveTo>
                  <a:lnTo>
                    <a:pt x="0" y="0"/>
                  </a:lnTo>
                  <a:lnTo>
                    <a:pt x="154396" y="0"/>
                  </a:lnTo>
                  <a:lnTo>
                    <a:pt x="441959" y="454152"/>
                  </a:lnTo>
                  <a:lnTo>
                    <a:pt x="0" y="1152144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63612" y="1057655"/>
              <a:ext cx="441959" cy="1152525"/>
            </a:xfrm>
            <a:custGeom>
              <a:avLst/>
              <a:gdLst/>
              <a:ahLst/>
              <a:cxnLst/>
              <a:rect l="l" t="t" r="r" b="b"/>
              <a:pathLst>
                <a:path w="441959" h="1152525">
                  <a:moveTo>
                    <a:pt x="154396" y="0"/>
                  </a:moveTo>
                  <a:lnTo>
                    <a:pt x="441959" y="454152"/>
                  </a:lnTo>
                  <a:lnTo>
                    <a:pt x="0" y="1152144"/>
                  </a:lnTo>
                  <a:lnTo>
                    <a:pt x="0" y="0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046" y="1316224"/>
            <a:ext cx="2049145" cy="93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sz="2950" spc="120" dirty="0">
                <a:latin typeface="Microsoft YaHei Light"/>
                <a:cs typeface="Microsoft YaHei Light"/>
              </a:rPr>
              <a:t>PROJECT </a:t>
            </a:r>
            <a:r>
              <a:rPr sz="2950" spc="114" dirty="0">
                <a:latin typeface="Microsoft YaHei Light"/>
                <a:cs typeface="Microsoft YaHei Light"/>
              </a:rPr>
              <a:t>OVERVIEW</a:t>
            </a:r>
            <a:endParaRPr sz="2950">
              <a:latin typeface="Microsoft YaHei Light"/>
              <a:cs typeface="Microsoft YaHe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25661" y="1397056"/>
            <a:ext cx="178562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160" dirty="0">
                <a:latin typeface="Microsoft YaHei Light"/>
                <a:cs typeface="Microsoft YaHei Light"/>
              </a:rPr>
              <a:t>DATASET</a:t>
            </a:r>
            <a:endParaRPr sz="2950">
              <a:latin typeface="Microsoft YaHei Light"/>
              <a:cs typeface="Microsoft YaHei Ligh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5432551" y="1233916"/>
            <a:ext cx="1736089" cy="93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sz="2950" b="0" spc="60" dirty="0">
                <a:latin typeface="Microsoft YaHei Light"/>
                <a:cs typeface="Microsoft YaHei Light"/>
              </a:rPr>
              <a:t>MODEL DEVELOP</a:t>
            </a:r>
            <a:endParaRPr sz="2950">
              <a:latin typeface="Microsoft YaHei Light"/>
              <a:cs typeface="Microsoft YaHei 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32551" y="2139121"/>
            <a:ext cx="115443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150" dirty="0">
                <a:latin typeface="Microsoft YaHei Light"/>
                <a:cs typeface="Microsoft YaHei Light"/>
              </a:rPr>
              <a:t>MENT</a:t>
            </a:r>
            <a:endParaRPr sz="2950">
              <a:latin typeface="Microsoft YaHei Light"/>
              <a:cs typeface="Microsoft YaHei Ligh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46294" y="1233916"/>
            <a:ext cx="1880235" cy="93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sz="2950" spc="100" dirty="0">
                <a:latin typeface="Microsoft YaHei Light"/>
                <a:cs typeface="Microsoft YaHei Light"/>
              </a:rPr>
              <a:t>DEPLOYM </a:t>
            </a:r>
            <a:r>
              <a:rPr sz="2950" spc="114" dirty="0">
                <a:latin typeface="Microsoft YaHei Light"/>
                <a:cs typeface="Microsoft YaHei Light"/>
              </a:rPr>
              <a:t>ENT</a:t>
            </a:r>
            <a:endParaRPr sz="2950">
              <a:latin typeface="Microsoft YaHei Light"/>
              <a:cs typeface="Microsoft YaHei Ligh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785" y="2470841"/>
            <a:ext cx="1666875" cy="264223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300" dirty="0">
                <a:solidFill>
                  <a:srgbClr val="D8D8D8"/>
                </a:solidFill>
                <a:latin typeface="Calibri"/>
                <a:cs typeface="Calibri"/>
              </a:rPr>
              <a:t>-</a:t>
            </a:r>
            <a:r>
              <a:rPr sz="2300" spc="-10" dirty="0">
                <a:solidFill>
                  <a:srgbClr val="D8D8D8"/>
                </a:solidFill>
                <a:latin typeface="Calibri"/>
                <a:cs typeface="Calibri"/>
              </a:rPr>
              <a:t>&gt;ABSTRACT</a:t>
            </a:r>
            <a:endParaRPr sz="2300">
              <a:latin typeface="Calibri"/>
              <a:cs typeface="Calibri"/>
            </a:endParaRPr>
          </a:p>
          <a:p>
            <a:pPr marL="12700" marR="219710">
              <a:lnSpc>
                <a:spcPct val="100400"/>
              </a:lnSpc>
              <a:spcBef>
                <a:spcPts val="994"/>
              </a:spcBef>
            </a:pPr>
            <a:r>
              <a:rPr sz="2300" dirty="0">
                <a:solidFill>
                  <a:srgbClr val="D8D8D8"/>
                </a:solidFill>
                <a:latin typeface="Calibri"/>
                <a:cs typeface="Calibri"/>
              </a:rPr>
              <a:t>-&gt;WHY </a:t>
            </a:r>
            <a:r>
              <a:rPr sz="2300" spc="-20" dirty="0">
                <a:solidFill>
                  <a:srgbClr val="D8D8D8"/>
                </a:solidFill>
                <a:latin typeface="Calibri"/>
                <a:cs typeface="Calibri"/>
              </a:rPr>
              <a:t>THIS </a:t>
            </a:r>
            <a:r>
              <a:rPr sz="2300" spc="-10" dirty="0">
                <a:solidFill>
                  <a:srgbClr val="D8D8D8"/>
                </a:solidFill>
                <a:latin typeface="Calibri"/>
                <a:cs typeface="Calibri"/>
              </a:rPr>
              <a:t>PROJECT?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300" dirty="0">
                <a:solidFill>
                  <a:srgbClr val="D8D8D8"/>
                </a:solidFill>
                <a:latin typeface="Calibri"/>
                <a:cs typeface="Calibri"/>
              </a:rPr>
              <a:t>-</a:t>
            </a:r>
            <a:r>
              <a:rPr sz="2300" spc="-10" dirty="0">
                <a:solidFill>
                  <a:srgbClr val="D8D8D8"/>
                </a:solidFill>
                <a:latin typeface="Calibri"/>
                <a:cs typeface="Calibri"/>
              </a:rPr>
              <a:t>&gt;OBJECTIVES</a:t>
            </a:r>
            <a:endParaRPr sz="2300">
              <a:latin typeface="Calibri"/>
              <a:cs typeface="Calibri"/>
            </a:endParaRPr>
          </a:p>
          <a:p>
            <a:pPr marL="12700" marR="97155">
              <a:lnSpc>
                <a:spcPct val="100499"/>
              </a:lnSpc>
              <a:spcBef>
                <a:spcPts val="994"/>
              </a:spcBef>
            </a:pPr>
            <a:r>
              <a:rPr sz="2300" dirty="0">
                <a:solidFill>
                  <a:srgbClr val="D8D8D8"/>
                </a:solidFill>
                <a:latin typeface="Calibri"/>
                <a:cs typeface="Calibri"/>
              </a:rPr>
              <a:t>-</a:t>
            </a:r>
            <a:r>
              <a:rPr sz="2300" spc="-10" dirty="0">
                <a:solidFill>
                  <a:srgbClr val="D8D8D8"/>
                </a:solidFill>
                <a:latin typeface="Calibri"/>
                <a:cs typeface="Calibri"/>
              </a:rPr>
              <a:t>&gt;PROPOSED SOLUTION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29351" y="2408366"/>
            <a:ext cx="2186305" cy="382333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300" dirty="0">
                <a:solidFill>
                  <a:srgbClr val="D8D8D8"/>
                </a:solidFill>
                <a:latin typeface="Calibri"/>
                <a:cs typeface="Calibri"/>
              </a:rPr>
              <a:t>-</a:t>
            </a:r>
            <a:r>
              <a:rPr sz="2300" spc="-25" dirty="0">
                <a:solidFill>
                  <a:srgbClr val="D8D8D8"/>
                </a:solidFill>
                <a:latin typeface="Calibri"/>
                <a:cs typeface="Calibri"/>
              </a:rPr>
              <a:t>&gt;DATSET</a:t>
            </a:r>
            <a:r>
              <a:rPr sz="2300" spc="-70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D8D8D8"/>
                </a:solidFill>
                <a:latin typeface="Calibri"/>
                <a:cs typeface="Calibri"/>
              </a:rPr>
              <a:t>DETAILS</a:t>
            </a:r>
            <a:endParaRPr sz="2300">
              <a:latin typeface="Calibri"/>
              <a:cs typeface="Calibri"/>
            </a:endParaRPr>
          </a:p>
          <a:p>
            <a:pPr marL="279400" marR="281305" indent="-266700">
              <a:lnSpc>
                <a:spcPct val="100400"/>
              </a:lnSpc>
              <a:spcBef>
                <a:spcPts val="994"/>
              </a:spcBef>
            </a:pPr>
            <a:r>
              <a:rPr sz="2300" dirty="0">
                <a:solidFill>
                  <a:srgbClr val="D8D8D8"/>
                </a:solidFill>
                <a:latin typeface="Calibri"/>
                <a:cs typeface="Calibri"/>
              </a:rPr>
              <a:t>-</a:t>
            </a:r>
            <a:r>
              <a:rPr sz="2300" spc="-20" dirty="0">
                <a:solidFill>
                  <a:srgbClr val="D8D8D8"/>
                </a:solidFill>
                <a:latin typeface="Calibri"/>
                <a:cs typeface="Calibri"/>
              </a:rPr>
              <a:t>&gt;PARSING</a:t>
            </a:r>
            <a:r>
              <a:rPr sz="2300" spc="-50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D8D8D8"/>
                </a:solidFill>
                <a:latin typeface="Calibri"/>
                <a:cs typeface="Calibri"/>
              </a:rPr>
              <a:t>AND </a:t>
            </a:r>
            <a:r>
              <a:rPr sz="2300" spc="-10" dirty="0">
                <a:solidFill>
                  <a:srgbClr val="D8D8D8"/>
                </a:solidFill>
                <a:latin typeface="Calibri"/>
                <a:cs typeface="Calibri"/>
              </a:rPr>
              <a:t>CLEANING</a:t>
            </a:r>
            <a:endParaRPr sz="2300">
              <a:latin typeface="Calibri"/>
              <a:cs typeface="Calibri"/>
            </a:endParaRPr>
          </a:p>
          <a:p>
            <a:pPr marL="212090" marR="299085" indent="-200025">
              <a:lnSpc>
                <a:spcPct val="100400"/>
              </a:lnSpc>
              <a:spcBef>
                <a:spcPts val="985"/>
              </a:spcBef>
            </a:pPr>
            <a:r>
              <a:rPr sz="2300" dirty="0">
                <a:solidFill>
                  <a:srgbClr val="D8D8D8"/>
                </a:solidFill>
                <a:latin typeface="Calibri"/>
                <a:cs typeface="Calibri"/>
              </a:rPr>
              <a:t>-</a:t>
            </a:r>
            <a:r>
              <a:rPr sz="2300" spc="-10" dirty="0">
                <a:solidFill>
                  <a:srgbClr val="D8D8D8"/>
                </a:solidFill>
                <a:latin typeface="Calibri"/>
                <a:cs typeface="Calibri"/>
              </a:rPr>
              <a:t>&gt;FEATURE </a:t>
            </a:r>
            <a:r>
              <a:rPr sz="2300" spc="-30" dirty="0">
                <a:solidFill>
                  <a:srgbClr val="D8D8D8"/>
                </a:solidFill>
                <a:latin typeface="Calibri"/>
                <a:cs typeface="Calibri"/>
              </a:rPr>
              <a:t>PREPARATION</a:t>
            </a:r>
            <a:endParaRPr sz="2300">
              <a:latin typeface="Calibri"/>
              <a:cs typeface="Calibri"/>
            </a:endParaRPr>
          </a:p>
          <a:p>
            <a:pPr marL="279400" marR="539750" indent="-266700">
              <a:lnSpc>
                <a:spcPct val="100499"/>
              </a:lnSpc>
              <a:spcBef>
                <a:spcPts val="994"/>
              </a:spcBef>
            </a:pPr>
            <a:r>
              <a:rPr sz="2300" dirty="0">
                <a:solidFill>
                  <a:srgbClr val="D8D8D8"/>
                </a:solidFill>
                <a:latin typeface="Calibri"/>
                <a:cs typeface="Calibri"/>
              </a:rPr>
              <a:t>-&gt;TRAIN-</a:t>
            </a:r>
            <a:r>
              <a:rPr sz="2300" spc="-20" dirty="0">
                <a:solidFill>
                  <a:srgbClr val="D8D8D8"/>
                </a:solidFill>
                <a:latin typeface="Calibri"/>
                <a:cs typeface="Calibri"/>
              </a:rPr>
              <a:t>TEST </a:t>
            </a:r>
            <a:r>
              <a:rPr sz="2300" spc="-10" dirty="0">
                <a:solidFill>
                  <a:srgbClr val="D8D8D8"/>
                </a:solidFill>
                <a:latin typeface="Calibri"/>
                <a:cs typeface="Calibri"/>
              </a:rPr>
              <a:t>SPLIT</a:t>
            </a:r>
            <a:endParaRPr sz="2300">
              <a:latin typeface="Calibri"/>
              <a:cs typeface="Calibri"/>
            </a:endParaRPr>
          </a:p>
          <a:p>
            <a:pPr marL="212090" marR="5080" indent="-200025">
              <a:lnSpc>
                <a:spcPct val="100400"/>
              </a:lnSpc>
              <a:spcBef>
                <a:spcPts val="985"/>
              </a:spcBef>
            </a:pPr>
            <a:r>
              <a:rPr sz="2300" dirty="0">
                <a:solidFill>
                  <a:srgbClr val="D8D8D8"/>
                </a:solidFill>
                <a:latin typeface="Calibri"/>
                <a:cs typeface="Calibri"/>
              </a:rPr>
              <a:t>-</a:t>
            </a:r>
            <a:r>
              <a:rPr sz="2300" spc="-70" dirty="0">
                <a:solidFill>
                  <a:srgbClr val="D8D8D8"/>
                </a:solidFill>
                <a:latin typeface="Calibri"/>
                <a:cs typeface="Calibri"/>
              </a:rPr>
              <a:t>&gt;DATA</a:t>
            </a:r>
            <a:r>
              <a:rPr sz="2300" spc="-25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D8D8D8"/>
                </a:solidFill>
                <a:latin typeface="Calibri"/>
                <a:cs typeface="Calibri"/>
              </a:rPr>
              <a:t>PREPARED </a:t>
            </a:r>
            <a:r>
              <a:rPr sz="2300" dirty="0">
                <a:solidFill>
                  <a:srgbClr val="D8D8D8"/>
                </a:solidFill>
                <a:latin typeface="Calibri"/>
                <a:cs typeface="Calibri"/>
              </a:rPr>
              <a:t>FOR</a:t>
            </a:r>
            <a:r>
              <a:rPr sz="2300" spc="-35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D8D8D8"/>
                </a:solidFill>
                <a:latin typeface="Calibri"/>
                <a:cs typeface="Calibri"/>
              </a:rPr>
              <a:t>MODEL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46986" y="2895952"/>
            <a:ext cx="2411095" cy="283146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-&gt;MODEL</a:t>
            </a:r>
            <a:r>
              <a:rPr sz="23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300" spc="-20" dirty="0">
                <a:solidFill>
                  <a:srgbClr val="FFFFFF"/>
                </a:solidFill>
                <a:latin typeface="Calibri"/>
                <a:cs typeface="Calibri"/>
              </a:rPr>
              <a:t>&gt;STACKED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ENSEM-</a:t>
            </a:r>
            <a:endParaRPr sz="2300">
              <a:latin typeface="Calibri"/>
              <a:cs typeface="Calibri"/>
            </a:endParaRPr>
          </a:p>
          <a:p>
            <a:pPr marL="212090" marR="370840">
              <a:lnSpc>
                <a:spcPct val="100400"/>
              </a:lnSpc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300" spc="-25" dirty="0">
                <a:solidFill>
                  <a:srgbClr val="FFFFFF"/>
                </a:solidFill>
                <a:latin typeface="Calibri"/>
                <a:cs typeface="Calibri"/>
              </a:rPr>
              <a:t>BLE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endParaRPr sz="2300">
              <a:latin typeface="Calibri"/>
              <a:cs typeface="Calibri"/>
            </a:endParaRPr>
          </a:p>
          <a:p>
            <a:pPr marR="44450" algn="r">
              <a:lnSpc>
                <a:spcPct val="100000"/>
              </a:lnSpc>
              <a:spcBef>
                <a:spcPts val="90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-&gt;MODEL</a:t>
            </a:r>
            <a:r>
              <a:rPr sz="23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EVALUAT-</a:t>
            </a:r>
            <a:endParaRPr sz="2300">
              <a:latin typeface="Calibri"/>
              <a:cs typeface="Calibri"/>
            </a:endParaRPr>
          </a:p>
          <a:p>
            <a:pPr marR="50800" algn="r">
              <a:lnSpc>
                <a:spcPct val="100000"/>
              </a:lnSpc>
              <a:spcBef>
                <a:spcPts val="1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-ON</a:t>
            </a:r>
            <a:r>
              <a:rPr sz="23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3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COMPA-</a:t>
            </a:r>
            <a:endParaRPr sz="2300">
              <a:latin typeface="Calibri"/>
              <a:cs typeface="Calibri"/>
            </a:endParaRPr>
          </a:p>
          <a:p>
            <a:pPr marL="212090">
              <a:lnSpc>
                <a:spcPct val="100000"/>
              </a:lnSpc>
              <a:spcBef>
                <a:spcPts val="1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RISION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46986" y="2544574"/>
            <a:ext cx="487235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636520" algn="l"/>
              </a:tabLst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-&gt;MODEL</a:t>
            </a:r>
            <a:r>
              <a:rPr sz="23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SELECTION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450" baseline="4830" dirty="0">
                <a:solidFill>
                  <a:srgbClr val="FFFFFF"/>
                </a:solidFill>
                <a:latin typeface="Calibri"/>
                <a:cs typeface="Calibri"/>
              </a:rPr>
              <a:t>-&gt;SYSTEM</a:t>
            </a:r>
            <a:r>
              <a:rPr sz="3450" spc="-112" baseline="48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50" spc="-15" baseline="4830" dirty="0">
                <a:solidFill>
                  <a:srgbClr val="FFFFFF"/>
                </a:solidFill>
                <a:latin typeface="Calibri"/>
                <a:cs typeface="Calibri"/>
              </a:rPr>
              <a:t>ARCHIT-</a:t>
            </a:r>
            <a:endParaRPr sz="3450" baseline="483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71332" y="2761956"/>
            <a:ext cx="2204085" cy="3294379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994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ECTURE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-&gt;WEB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 APPLICATI-</a:t>
            </a:r>
            <a:endParaRPr sz="2300">
              <a:latin typeface="Calibri"/>
              <a:cs typeface="Calibri"/>
            </a:endParaRPr>
          </a:p>
          <a:p>
            <a:pPr marL="146685">
              <a:lnSpc>
                <a:spcPct val="100000"/>
              </a:lnSpc>
              <a:spcBef>
                <a:spcPts val="1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-ON</a:t>
            </a:r>
            <a:r>
              <a:rPr sz="23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-&gt;MODEL</a:t>
            </a:r>
            <a:r>
              <a:rPr sz="23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INTEGR-</a:t>
            </a:r>
            <a:endParaRPr sz="2300">
              <a:latin typeface="Calibri"/>
              <a:cs typeface="Calibri"/>
            </a:endParaRPr>
          </a:p>
          <a:p>
            <a:pPr marL="212090" marR="41275">
              <a:lnSpc>
                <a:spcPct val="100400"/>
              </a:lnSpc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ATION</a:t>
            </a:r>
            <a:r>
              <a:rPr sz="23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BACKEND</a:t>
            </a:r>
            <a:r>
              <a:rPr sz="23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Calibri"/>
                <a:cs typeface="Calibri"/>
              </a:rPr>
              <a:t>LOGIC</a:t>
            </a:r>
            <a:endParaRPr sz="2300">
              <a:latin typeface="Calibri"/>
              <a:cs typeface="Calibri"/>
            </a:endParaRPr>
          </a:p>
          <a:p>
            <a:pPr marL="212090" marR="237490" indent="-200025">
              <a:lnSpc>
                <a:spcPct val="100400"/>
              </a:lnSpc>
              <a:spcBef>
                <a:spcPts val="890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-&gt;HOSTING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DEPLOYMENT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333" y="1052321"/>
            <a:ext cx="10069195" cy="5664835"/>
            <a:chOff x="-5333" y="1052321"/>
            <a:chExt cx="10069195" cy="5664835"/>
          </a:xfrm>
        </p:grpSpPr>
        <p:sp>
          <p:nvSpPr>
            <p:cNvPr id="3" name="object 3"/>
            <p:cNvSpPr/>
            <p:nvPr/>
          </p:nvSpPr>
          <p:spPr>
            <a:xfrm>
              <a:off x="9889235" y="1057656"/>
              <a:ext cx="169545" cy="5659120"/>
            </a:xfrm>
            <a:custGeom>
              <a:avLst/>
              <a:gdLst/>
              <a:ahLst/>
              <a:cxnLst/>
              <a:rect l="l" t="t" r="r" b="b"/>
              <a:pathLst>
                <a:path w="169545" h="5659120">
                  <a:moveTo>
                    <a:pt x="0" y="5658611"/>
                  </a:moveTo>
                  <a:lnTo>
                    <a:pt x="169164" y="5658611"/>
                  </a:lnTo>
                  <a:lnTo>
                    <a:pt x="169164" y="0"/>
                  </a:lnTo>
                  <a:lnTo>
                    <a:pt x="0" y="0"/>
                  </a:lnTo>
                  <a:lnTo>
                    <a:pt x="0" y="5658611"/>
                  </a:lnTo>
                  <a:close/>
                </a:path>
              </a:pathLst>
            </a:custGeom>
            <a:solidFill>
              <a:srgbClr val="8EAA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56"/>
              <a:ext cx="9889490" cy="5654040"/>
            </a:xfrm>
            <a:custGeom>
              <a:avLst/>
              <a:gdLst/>
              <a:ahLst/>
              <a:cxnLst/>
              <a:rect l="l" t="t" r="r" b="b"/>
              <a:pathLst>
                <a:path w="9889490" h="5654040">
                  <a:moveTo>
                    <a:pt x="9889235" y="5654040"/>
                  </a:moveTo>
                  <a:lnTo>
                    <a:pt x="0" y="5654040"/>
                  </a:lnTo>
                  <a:lnTo>
                    <a:pt x="0" y="0"/>
                  </a:lnTo>
                  <a:lnTo>
                    <a:pt x="9889235" y="0"/>
                  </a:lnTo>
                  <a:lnTo>
                    <a:pt x="9889235" y="565404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057656"/>
              <a:ext cx="9889490" cy="5654040"/>
            </a:xfrm>
            <a:custGeom>
              <a:avLst/>
              <a:gdLst/>
              <a:ahLst/>
              <a:cxnLst/>
              <a:rect l="l" t="t" r="r" b="b"/>
              <a:pathLst>
                <a:path w="9889490" h="5654040">
                  <a:moveTo>
                    <a:pt x="0" y="0"/>
                  </a:moveTo>
                  <a:lnTo>
                    <a:pt x="9889235" y="0"/>
                  </a:lnTo>
                  <a:lnTo>
                    <a:pt x="9889235" y="5654040"/>
                  </a:lnTo>
                  <a:lnTo>
                    <a:pt x="0" y="565404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873996" y="1057655"/>
              <a:ext cx="184785" cy="1242060"/>
            </a:xfrm>
            <a:custGeom>
              <a:avLst/>
              <a:gdLst/>
              <a:ahLst/>
              <a:cxnLst/>
              <a:rect l="l" t="t" r="r" b="b"/>
              <a:pathLst>
                <a:path w="184784" h="1242060">
                  <a:moveTo>
                    <a:pt x="0" y="1242060"/>
                  </a:moveTo>
                  <a:lnTo>
                    <a:pt x="0" y="0"/>
                  </a:lnTo>
                  <a:lnTo>
                    <a:pt x="184403" y="212613"/>
                  </a:lnTo>
                  <a:lnTo>
                    <a:pt x="184403" y="1028924"/>
                  </a:lnTo>
                  <a:lnTo>
                    <a:pt x="0" y="1242060"/>
                  </a:lnTo>
                  <a:close/>
                </a:path>
              </a:pathLst>
            </a:custGeom>
            <a:solidFill>
              <a:srgbClr val="1F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73996" y="1057655"/>
              <a:ext cx="184785" cy="1242060"/>
            </a:xfrm>
            <a:custGeom>
              <a:avLst/>
              <a:gdLst/>
              <a:ahLst/>
              <a:cxnLst/>
              <a:rect l="l" t="t" r="r" b="b"/>
              <a:pathLst>
                <a:path w="184784" h="1242060">
                  <a:moveTo>
                    <a:pt x="184403" y="1028924"/>
                  </a:moveTo>
                  <a:lnTo>
                    <a:pt x="0" y="1242060"/>
                  </a:lnTo>
                  <a:lnTo>
                    <a:pt x="0" y="0"/>
                  </a:lnTo>
                  <a:lnTo>
                    <a:pt x="184403" y="212613"/>
                  </a:lnTo>
                </a:path>
              </a:pathLst>
            </a:custGeom>
            <a:ln w="10668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30"/>
              </a:spcBef>
            </a:pPr>
            <a:r>
              <a:rPr sz="3100" spc="-10" dirty="0">
                <a:solidFill>
                  <a:srgbClr val="FFFFFF"/>
                </a:solidFill>
              </a:rPr>
              <a:t>ABSTRACT</a:t>
            </a:r>
            <a:endParaRPr sz="3100"/>
          </a:p>
        </p:txBody>
      </p:sp>
      <p:sp>
        <p:nvSpPr>
          <p:cNvPr id="9" name="object 9"/>
          <p:cNvSpPr txBox="1"/>
          <p:nvPr/>
        </p:nvSpPr>
        <p:spPr>
          <a:xfrm>
            <a:off x="165659" y="1712456"/>
            <a:ext cx="9664700" cy="4941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9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Financial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planning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efficient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budget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essential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individuals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small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businesses.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To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challenges,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i="1" dirty="0">
                <a:solidFill>
                  <a:srgbClr val="FFFFFF"/>
                </a:solidFill>
                <a:latin typeface="Calibri"/>
                <a:cs typeface="Calibri"/>
              </a:rPr>
              <a:t>BudgetWise</a:t>
            </a:r>
            <a:r>
              <a:rPr sz="190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i="1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90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been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developed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intelligent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financial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forecasting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budgeting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powered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(AI)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Machine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(ML).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analyzes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historical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financial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data—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income,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expenses,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saving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patterns—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accurately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predict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future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expenditures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provide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personalized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budgeting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insights.</a:t>
            </a:r>
            <a:endParaRPr sz="1900">
              <a:latin typeface="Calibri"/>
              <a:cs typeface="Calibri"/>
            </a:endParaRPr>
          </a:p>
          <a:p>
            <a:pPr marL="12700" marR="193675">
              <a:lnSpc>
                <a:spcPct val="99900"/>
              </a:lnSpc>
              <a:spcBef>
                <a:spcPts val="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Unlike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traditional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budgeting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applications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static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formulas,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BudgetWise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dynamically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learns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behavior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adapts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predictions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advanced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models,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including CatBoost,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XGBoost,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LightGBM,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stacked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ensemble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accuracy.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also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interactive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Streamlit-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visualizations</a:t>
            </a:r>
            <a:r>
              <a:rPr sz="1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category-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wise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spending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charts,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monthly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trends,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budget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comparisons.</a:t>
            </a:r>
            <a:endParaRPr sz="1900">
              <a:latin typeface="Calibri"/>
              <a:cs typeface="Calibri"/>
            </a:endParaRPr>
          </a:p>
          <a:p>
            <a:pPr marL="12700" marR="496570">
              <a:lnSpc>
                <a:spcPct val="99800"/>
              </a:lnSpc>
              <a:spcBef>
                <a:spcPts val="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track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expenses,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recurring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costs,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budgets,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receive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AI-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driven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savings recommendations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through an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integrated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financial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advisor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powered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Gemini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API.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Secure authentication,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encrypted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handling,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SQLite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ensure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privacy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reliability.</a:t>
            </a:r>
            <a:endParaRPr sz="1900">
              <a:latin typeface="Calibri"/>
              <a:cs typeface="Calibri"/>
            </a:endParaRPr>
          </a:p>
          <a:p>
            <a:pPr marL="12700" marR="182880">
              <a:lnSpc>
                <a:spcPct val="99700"/>
              </a:lnSpc>
              <a:spcBef>
                <a:spcPts val="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aims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provide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practical,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AI-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driven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financial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assistant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empowers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better,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save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more,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maintain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long-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financial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stability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intelligent automation.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800" y="1179106"/>
            <a:ext cx="303212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dirty="0"/>
              <a:t>WHY</a:t>
            </a:r>
            <a:r>
              <a:rPr sz="2950" spc="-20" dirty="0"/>
              <a:t> </a:t>
            </a:r>
            <a:r>
              <a:rPr sz="2950" dirty="0"/>
              <a:t>THIS </a:t>
            </a:r>
            <a:r>
              <a:rPr sz="2950" spc="-10" dirty="0"/>
              <a:t>PROJECT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162107" y="1752048"/>
            <a:ext cx="9422765" cy="4741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244475" indent="-8890">
              <a:lnSpc>
                <a:spcPct val="100499"/>
              </a:lnSpc>
              <a:spcBef>
                <a:spcPts val="100"/>
              </a:spcBef>
              <a:buSzPct val="95121"/>
              <a:buChar char="•"/>
              <a:tabLst>
                <a:tab pos="116205" algn="l"/>
              </a:tabLst>
            </a:pPr>
            <a:r>
              <a:rPr sz="2050" dirty="0">
                <a:latin typeface="Arial MT"/>
                <a:cs typeface="Arial MT"/>
              </a:rPr>
              <a:t>	Managing</a:t>
            </a:r>
            <a:r>
              <a:rPr sz="2050" spc="-3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personal</a:t>
            </a:r>
            <a:r>
              <a:rPr sz="2050" spc="-3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finances</a:t>
            </a:r>
            <a:r>
              <a:rPr sz="2050" spc="-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has</a:t>
            </a:r>
            <a:r>
              <a:rPr sz="2050" spc="-1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become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challenging</a:t>
            </a:r>
            <a:r>
              <a:rPr sz="2050" spc="-3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for</a:t>
            </a:r>
            <a:r>
              <a:rPr sz="2050" spc="-1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students,</a:t>
            </a:r>
            <a:r>
              <a:rPr sz="2050" spc="-40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individuals, </a:t>
            </a:r>
            <a:r>
              <a:rPr sz="2050" dirty="0">
                <a:latin typeface="Arial MT"/>
                <a:cs typeface="Arial MT"/>
              </a:rPr>
              <a:t>and</a:t>
            </a:r>
            <a:r>
              <a:rPr sz="2050" spc="-3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small</a:t>
            </a:r>
            <a:r>
              <a:rPr sz="2050" spc="10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businesses.</a:t>
            </a:r>
            <a:endParaRPr sz="2050">
              <a:latin typeface="Arial MT"/>
              <a:cs typeface="Arial MT"/>
            </a:endParaRPr>
          </a:p>
          <a:p>
            <a:pPr marL="25400" marR="708660" indent="-8890">
              <a:lnSpc>
                <a:spcPct val="100499"/>
              </a:lnSpc>
              <a:spcBef>
                <a:spcPts val="10"/>
              </a:spcBef>
              <a:buSzPct val="95121"/>
              <a:buChar char="•"/>
              <a:tabLst>
                <a:tab pos="116205" algn="l"/>
              </a:tabLst>
            </a:pPr>
            <a:r>
              <a:rPr sz="2050" dirty="0">
                <a:latin typeface="Arial MT"/>
                <a:cs typeface="Arial MT"/>
              </a:rPr>
              <a:t>	Existing</a:t>
            </a:r>
            <a:r>
              <a:rPr sz="2050" spc="-1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budgeting</a:t>
            </a:r>
            <a:r>
              <a:rPr sz="2050" spc="-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apps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only</a:t>
            </a:r>
            <a:r>
              <a:rPr sz="2050" spc="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show</a:t>
            </a:r>
            <a:r>
              <a:rPr sz="2050" spc="-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past</a:t>
            </a:r>
            <a:r>
              <a:rPr sz="2050" spc="-1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expenses</a:t>
            </a:r>
            <a:r>
              <a:rPr sz="2050" spc="-3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and</a:t>
            </a:r>
            <a:r>
              <a:rPr sz="2050" spc="-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fail to</a:t>
            </a:r>
            <a:r>
              <a:rPr sz="2050" spc="-1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predict</a:t>
            </a:r>
            <a:r>
              <a:rPr sz="2050" spc="-10" dirty="0">
                <a:latin typeface="Arial MT"/>
                <a:cs typeface="Arial MT"/>
              </a:rPr>
              <a:t> future spending.</a:t>
            </a:r>
            <a:endParaRPr sz="2050">
              <a:latin typeface="Arial MT"/>
              <a:cs typeface="Arial MT"/>
            </a:endParaRPr>
          </a:p>
          <a:p>
            <a:pPr marL="25400" marR="198755" indent="-8890">
              <a:lnSpc>
                <a:spcPct val="100499"/>
              </a:lnSpc>
              <a:buSzPct val="95121"/>
              <a:buChar char="•"/>
              <a:tabLst>
                <a:tab pos="116205" algn="l"/>
              </a:tabLst>
            </a:pPr>
            <a:r>
              <a:rPr sz="2050" dirty="0">
                <a:latin typeface="Arial MT"/>
                <a:cs typeface="Arial MT"/>
              </a:rPr>
              <a:t>	Users</a:t>
            </a:r>
            <a:r>
              <a:rPr sz="2050" spc="-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struggle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with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overspending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because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they</a:t>
            </a:r>
            <a:r>
              <a:rPr sz="2050" spc="-2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cannot</a:t>
            </a:r>
            <a:r>
              <a:rPr sz="2050" spc="-4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see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upcoming</a:t>
            </a:r>
            <a:r>
              <a:rPr sz="2050" spc="-35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financial patterns.</a:t>
            </a:r>
            <a:endParaRPr sz="2050">
              <a:latin typeface="Arial MT"/>
              <a:cs typeface="Arial MT"/>
            </a:endParaRPr>
          </a:p>
          <a:p>
            <a:pPr marL="25400" marR="64135" indent="-8890">
              <a:lnSpc>
                <a:spcPts val="2470"/>
              </a:lnSpc>
              <a:spcBef>
                <a:spcPts val="100"/>
              </a:spcBef>
              <a:buSzPct val="95121"/>
              <a:buChar char="•"/>
              <a:tabLst>
                <a:tab pos="116205" algn="l"/>
              </a:tabLst>
            </a:pPr>
            <a:r>
              <a:rPr sz="2050" dirty="0">
                <a:latin typeface="Arial MT"/>
                <a:cs typeface="Arial MT"/>
              </a:rPr>
              <a:t>	There</a:t>
            </a:r>
            <a:r>
              <a:rPr sz="2050" spc="-1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is</a:t>
            </a:r>
            <a:r>
              <a:rPr sz="2050" spc="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a</a:t>
            </a:r>
            <a:r>
              <a:rPr sz="2050" spc="-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lack</a:t>
            </a:r>
            <a:r>
              <a:rPr sz="2050" spc="-2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of</a:t>
            </a:r>
            <a:r>
              <a:rPr sz="2050" spc="15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smart,</a:t>
            </a:r>
            <a:r>
              <a:rPr sz="2050" spc="-120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AI-</a:t>
            </a:r>
            <a:r>
              <a:rPr sz="2050" dirty="0">
                <a:latin typeface="Arial MT"/>
                <a:cs typeface="Arial MT"/>
              </a:rPr>
              <a:t>powered</a:t>
            </a:r>
            <a:r>
              <a:rPr sz="2050" spc="-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tools</a:t>
            </a:r>
            <a:r>
              <a:rPr sz="2050" spc="-2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that</a:t>
            </a:r>
            <a:r>
              <a:rPr sz="2050" spc="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provide</a:t>
            </a:r>
            <a:r>
              <a:rPr sz="2050" spc="-1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forecasting,</a:t>
            </a:r>
            <a:r>
              <a:rPr sz="2050" spc="-3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insights,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spc="-25" dirty="0">
                <a:latin typeface="Arial MT"/>
                <a:cs typeface="Arial MT"/>
              </a:rPr>
              <a:t>and </a:t>
            </a:r>
            <a:r>
              <a:rPr sz="2050" spc="-85" dirty="0">
                <a:latin typeface="Arial MT"/>
                <a:cs typeface="Arial MT"/>
              </a:rPr>
              <a:t>b</a:t>
            </a:r>
            <a:r>
              <a:rPr sz="3450" spc="-127" baseline="22946" dirty="0">
                <a:latin typeface="Calibri"/>
                <a:cs typeface="Calibri"/>
              </a:rPr>
              <a:t>.</a:t>
            </a:r>
            <a:r>
              <a:rPr sz="2050" spc="-85" dirty="0">
                <a:latin typeface="Arial MT"/>
                <a:cs typeface="Arial MT"/>
              </a:rPr>
              <a:t>udget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planning.</a:t>
            </a:r>
            <a:endParaRPr sz="2050">
              <a:latin typeface="Arial MT"/>
              <a:cs typeface="Arial MT"/>
            </a:endParaRPr>
          </a:p>
          <a:p>
            <a:pPr marL="25400" marR="2574290" indent="-8890">
              <a:lnSpc>
                <a:spcPts val="2470"/>
              </a:lnSpc>
              <a:spcBef>
                <a:spcPts val="5"/>
              </a:spcBef>
              <a:buSzPct val="95121"/>
              <a:buChar char="•"/>
              <a:tabLst>
                <a:tab pos="116205" algn="l"/>
              </a:tabLst>
            </a:pPr>
            <a:r>
              <a:rPr sz="2050" dirty="0">
                <a:latin typeface="Arial MT"/>
                <a:cs typeface="Arial MT"/>
              </a:rPr>
              <a:t>	BudgetWise</a:t>
            </a:r>
            <a:r>
              <a:rPr sz="2050" spc="-15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AI</a:t>
            </a:r>
            <a:r>
              <a:rPr sz="2050" spc="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fills</a:t>
            </a:r>
            <a:r>
              <a:rPr sz="2050" spc="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this</a:t>
            </a:r>
            <a:r>
              <a:rPr sz="2050" spc="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gap</a:t>
            </a:r>
            <a:r>
              <a:rPr sz="2050" spc="-3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by</a:t>
            </a:r>
            <a:r>
              <a:rPr sz="2050" spc="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using</a:t>
            </a:r>
            <a:r>
              <a:rPr sz="2050" spc="-1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Machine</a:t>
            </a:r>
            <a:r>
              <a:rPr sz="2050" spc="-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Learning</a:t>
            </a:r>
            <a:r>
              <a:rPr sz="2050" spc="-30" dirty="0">
                <a:latin typeface="Arial MT"/>
                <a:cs typeface="Arial MT"/>
              </a:rPr>
              <a:t> </a:t>
            </a:r>
            <a:r>
              <a:rPr sz="2050" spc="-25" dirty="0">
                <a:latin typeface="Arial MT"/>
                <a:cs typeface="Arial MT"/>
              </a:rPr>
              <a:t>to: </a:t>
            </a:r>
            <a:r>
              <a:rPr sz="2050" dirty="0">
                <a:latin typeface="Arial MT"/>
                <a:cs typeface="Arial MT"/>
              </a:rPr>
              <a:t>Analyze</a:t>
            </a:r>
            <a:r>
              <a:rPr sz="2050" spc="-2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spending</a:t>
            </a:r>
            <a:r>
              <a:rPr sz="2050" spc="15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behavior</a:t>
            </a:r>
            <a:endParaRPr sz="2050">
              <a:latin typeface="Arial MT"/>
              <a:cs typeface="Arial MT"/>
            </a:endParaRPr>
          </a:p>
          <a:p>
            <a:pPr marL="25400">
              <a:lnSpc>
                <a:spcPts val="2400"/>
              </a:lnSpc>
            </a:pPr>
            <a:r>
              <a:rPr sz="2050" dirty="0">
                <a:latin typeface="Arial MT"/>
                <a:cs typeface="Arial MT"/>
              </a:rPr>
              <a:t>Predict</a:t>
            </a:r>
            <a:r>
              <a:rPr sz="2050" spc="-1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monthly</a:t>
            </a:r>
            <a:r>
              <a:rPr sz="2050" spc="-35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expenses</a:t>
            </a:r>
            <a:endParaRPr sz="2050">
              <a:latin typeface="Arial MT"/>
              <a:cs typeface="Arial MT"/>
            </a:endParaRPr>
          </a:p>
          <a:p>
            <a:pPr marL="25400" marR="4062729">
              <a:lnSpc>
                <a:spcPct val="100499"/>
              </a:lnSpc>
            </a:pPr>
            <a:r>
              <a:rPr sz="2050" dirty="0">
                <a:latin typeface="Arial MT"/>
                <a:cs typeface="Arial MT"/>
              </a:rPr>
              <a:t>Offer</a:t>
            </a:r>
            <a:r>
              <a:rPr sz="2050" spc="-2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personalized</a:t>
            </a:r>
            <a:r>
              <a:rPr sz="2050" spc="-6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financial</a:t>
            </a:r>
            <a:r>
              <a:rPr sz="2050" spc="-55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recommendations </a:t>
            </a:r>
            <a:r>
              <a:rPr sz="2050" dirty="0">
                <a:latin typeface="Arial MT"/>
                <a:cs typeface="Arial MT"/>
              </a:rPr>
              <a:t>Help</a:t>
            </a:r>
            <a:r>
              <a:rPr sz="2050" spc="-2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users plan</a:t>
            </a:r>
            <a:r>
              <a:rPr sz="2050" spc="-3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ahead</a:t>
            </a:r>
            <a:r>
              <a:rPr sz="2050" spc="-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rather</a:t>
            </a:r>
            <a:r>
              <a:rPr sz="2050" spc="-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than</a:t>
            </a:r>
            <a:r>
              <a:rPr sz="2050" spc="-3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react</a:t>
            </a:r>
            <a:r>
              <a:rPr sz="2050" spc="10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later</a:t>
            </a:r>
            <a:endParaRPr sz="2050">
              <a:latin typeface="Arial MT"/>
              <a:cs typeface="Arial MT"/>
            </a:endParaRPr>
          </a:p>
          <a:p>
            <a:pPr marL="25400" marR="17780">
              <a:lnSpc>
                <a:spcPts val="2480"/>
              </a:lnSpc>
              <a:spcBef>
                <a:spcPts val="80"/>
              </a:spcBef>
            </a:pPr>
            <a:r>
              <a:rPr sz="2050" dirty="0">
                <a:latin typeface="Arial MT"/>
                <a:cs typeface="Arial MT"/>
              </a:rPr>
              <a:t>The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project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aims</a:t>
            </a:r>
            <a:r>
              <a:rPr sz="2050" spc="-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to</a:t>
            </a:r>
            <a:r>
              <a:rPr sz="2050" spc="1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make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financial</a:t>
            </a:r>
            <a:r>
              <a:rPr sz="2050" spc="-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planning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simple,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intelligent,</a:t>
            </a:r>
            <a:r>
              <a:rPr sz="2050" spc="-4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and</a:t>
            </a:r>
            <a:r>
              <a:rPr sz="2050" spc="1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accessible</a:t>
            </a:r>
            <a:r>
              <a:rPr sz="2050" spc="-30" dirty="0">
                <a:latin typeface="Arial MT"/>
                <a:cs typeface="Arial MT"/>
              </a:rPr>
              <a:t> </a:t>
            </a:r>
            <a:r>
              <a:rPr sz="2050" spc="-25" dirty="0">
                <a:latin typeface="Arial MT"/>
                <a:cs typeface="Arial MT"/>
              </a:rPr>
              <a:t>for </a:t>
            </a:r>
            <a:r>
              <a:rPr sz="2050" spc="-10" dirty="0">
                <a:latin typeface="Arial MT"/>
                <a:cs typeface="Arial MT"/>
              </a:rPr>
              <a:t>everyone</a:t>
            </a:r>
            <a:r>
              <a:rPr sz="1450" spc="-10" dirty="0">
                <a:latin typeface="Arial MT"/>
                <a:cs typeface="Arial MT"/>
              </a:rPr>
              <a:t>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10" dirty="0"/>
              <a:t>OBJECTIVES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63561" y="1718623"/>
            <a:ext cx="9658985" cy="4464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sz="2300" spc="-85" dirty="0">
                <a:latin typeface="Calibri"/>
                <a:cs typeface="Calibri"/>
              </a:rPr>
              <a:t>To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develop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AI-driven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system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capable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accurately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forecasting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future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expenses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budgets.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300" spc="-85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analyze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visualize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user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spending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patterns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using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historical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financial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data.</a:t>
            </a:r>
            <a:endParaRPr sz="2300">
              <a:latin typeface="Calibri"/>
              <a:cs typeface="Calibri"/>
            </a:endParaRPr>
          </a:p>
          <a:p>
            <a:pPr marL="12700" marR="425450">
              <a:lnSpc>
                <a:spcPct val="100499"/>
              </a:lnSpc>
              <a:spcBef>
                <a:spcPts val="894"/>
              </a:spcBef>
            </a:pPr>
            <a:r>
              <a:rPr sz="2300" spc="-85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provide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personalized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financial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planning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through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adaptive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machine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learning models.</a:t>
            </a:r>
            <a:endParaRPr sz="2300">
              <a:latin typeface="Calibri"/>
              <a:cs typeface="Calibri"/>
            </a:endParaRPr>
          </a:p>
          <a:p>
            <a:pPr marL="12700" marR="809625">
              <a:lnSpc>
                <a:spcPct val="100400"/>
              </a:lnSpc>
              <a:spcBef>
                <a:spcPts val="890"/>
              </a:spcBef>
            </a:pPr>
            <a:r>
              <a:rPr sz="2300" spc="-85" dirty="0">
                <a:latin typeface="Calibri"/>
                <a:cs typeface="Calibri"/>
              </a:rPr>
              <a:t>To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design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intuitive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user-</a:t>
            </a:r>
            <a:r>
              <a:rPr sz="2300" dirty="0">
                <a:latin typeface="Calibri"/>
                <a:cs typeface="Calibri"/>
              </a:rPr>
              <a:t>friendly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dashboard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insights,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trends,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and </a:t>
            </a:r>
            <a:r>
              <a:rPr sz="2300" spc="-10" dirty="0">
                <a:latin typeface="Calibri"/>
                <a:cs typeface="Calibri"/>
              </a:rPr>
              <a:t>recommendations.</a:t>
            </a:r>
            <a:endParaRPr sz="2300">
              <a:latin typeface="Calibri"/>
              <a:cs typeface="Calibri"/>
            </a:endParaRPr>
          </a:p>
          <a:p>
            <a:pPr marL="12700" marR="332740">
              <a:lnSpc>
                <a:spcPct val="100400"/>
              </a:lnSpc>
              <a:spcBef>
                <a:spcPts val="890"/>
              </a:spcBef>
            </a:pPr>
            <a:r>
              <a:rPr sz="2300" spc="-85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ensure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secure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handling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privacy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through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robust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authentication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and </a:t>
            </a:r>
            <a:r>
              <a:rPr sz="2300" spc="-10" dirty="0">
                <a:latin typeface="Calibri"/>
                <a:cs typeface="Calibri"/>
              </a:rPr>
              <a:t>encryption.</a:t>
            </a:r>
            <a:endParaRPr sz="2300">
              <a:latin typeface="Calibri"/>
              <a:cs typeface="Calibri"/>
            </a:endParaRPr>
          </a:p>
          <a:p>
            <a:pPr marL="12700" marR="248920">
              <a:lnSpc>
                <a:spcPct val="100499"/>
              </a:lnSpc>
              <a:spcBef>
                <a:spcPts val="885"/>
              </a:spcBef>
            </a:pPr>
            <a:r>
              <a:rPr sz="2300" spc="-85" dirty="0">
                <a:latin typeface="Calibri"/>
                <a:cs typeface="Calibri"/>
              </a:rPr>
              <a:t>To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build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scalable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architecture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capable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supporting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diverse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financial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datasets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multiple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users.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dirty="0"/>
              <a:t>PROPOSED</a:t>
            </a:r>
            <a:r>
              <a:rPr sz="2950" spc="-90" dirty="0"/>
              <a:t> </a:t>
            </a:r>
            <a:r>
              <a:rPr sz="2950" spc="-10" dirty="0"/>
              <a:t>SOLUTION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63561" y="1672809"/>
            <a:ext cx="9705975" cy="4251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65430">
              <a:lnSpc>
                <a:spcPct val="100400"/>
              </a:lnSpc>
              <a:spcBef>
                <a:spcPts val="105"/>
              </a:spcBef>
            </a:pPr>
            <a:r>
              <a:rPr sz="2300" dirty="0">
                <a:latin typeface="Calibri"/>
                <a:cs typeface="Calibri"/>
              </a:rPr>
              <a:t>A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full-</a:t>
            </a:r>
            <a:r>
              <a:rPr sz="2300" dirty="0">
                <a:latin typeface="Calibri"/>
                <a:cs typeface="Calibri"/>
              </a:rPr>
              <a:t>stack,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AI-powered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financial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management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system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built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using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Streamlit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and </a:t>
            </a:r>
            <a:r>
              <a:rPr sz="2300" spc="-10" dirty="0">
                <a:latin typeface="Calibri"/>
                <a:cs typeface="Calibri"/>
              </a:rPr>
              <a:t>SQLite.</a:t>
            </a:r>
            <a:endParaRPr sz="2300">
              <a:latin typeface="Calibri"/>
              <a:cs typeface="Calibri"/>
            </a:endParaRPr>
          </a:p>
          <a:p>
            <a:pPr marL="12700" marR="950594">
              <a:lnSpc>
                <a:spcPct val="100400"/>
              </a:lnSpc>
            </a:pPr>
            <a:r>
              <a:rPr sz="2300" dirty="0">
                <a:latin typeface="Calibri"/>
                <a:cs typeface="Calibri"/>
              </a:rPr>
              <a:t>Uses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advanced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ML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models—</a:t>
            </a:r>
            <a:r>
              <a:rPr sz="2300" dirty="0">
                <a:latin typeface="Calibri"/>
                <a:cs typeface="Calibri"/>
              </a:rPr>
              <a:t>CatBoost,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XGBoost,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LightGBM,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Stacked Ensemble—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accurately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forecast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future </a:t>
            </a:r>
            <a:r>
              <a:rPr sz="2300" spc="-10" dirty="0">
                <a:latin typeface="Calibri"/>
                <a:cs typeface="Calibri"/>
              </a:rPr>
              <a:t>expenses.</a:t>
            </a:r>
            <a:endParaRPr sz="2300">
              <a:latin typeface="Calibri"/>
              <a:cs typeface="Calibri"/>
            </a:endParaRPr>
          </a:p>
          <a:p>
            <a:pPr marL="12700" marR="17145">
              <a:lnSpc>
                <a:spcPct val="100400"/>
              </a:lnSpc>
            </a:pPr>
            <a:r>
              <a:rPr sz="2300" dirty="0">
                <a:latin typeface="Calibri"/>
                <a:cs typeface="Calibri"/>
              </a:rPr>
              <a:t>Learns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from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historical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(Category,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Amount,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features)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predict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spending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next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7–90</a:t>
            </a:r>
            <a:r>
              <a:rPr sz="2300" spc="-20" dirty="0">
                <a:latin typeface="Calibri"/>
                <a:cs typeface="Calibri"/>
              </a:rPr>
              <a:t> days.</a:t>
            </a:r>
            <a:endParaRPr sz="2300">
              <a:latin typeface="Calibri"/>
              <a:cs typeface="Calibri"/>
            </a:endParaRPr>
          </a:p>
          <a:p>
            <a:pPr marL="12700" marR="221615">
              <a:lnSpc>
                <a:spcPct val="100400"/>
              </a:lnSpc>
              <a:spcBef>
                <a:spcPts val="5"/>
              </a:spcBef>
            </a:pPr>
            <a:r>
              <a:rPr sz="2300" dirty="0">
                <a:latin typeface="Calibri"/>
                <a:cs typeface="Calibri"/>
              </a:rPr>
              <a:t>Provides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interactive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dashboards with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category-</a:t>
            </a:r>
            <a:r>
              <a:rPr sz="2300" dirty="0">
                <a:latin typeface="Calibri"/>
                <a:cs typeface="Calibri"/>
              </a:rPr>
              <a:t>wise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charts,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monthly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trends,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and </a:t>
            </a:r>
            <a:r>
              <a:rPr sz="2300" dirty="0">
                <a:latin typeface="Calibri"/>
                <a:cs typeface="Calibri"/>
              </a:rPr>
              <a:t>budget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vs.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actual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insights.</a:t>
            </a:r>
            <a:endParaRPr sz="2300">
              <a:latin typeface="Calibri"/>
              <a:cs typeface="Calibri"/>
            </a:endParaRPr>
          </a:p>
          <a:p>
            <a:pPr marL="12700" marR="5080">
              <a:lnSpc>
                <a:spcPct val="100400"/>
              </a:lnSpc>
            </a:pPr>
            <a:r>
              <a:rPr sz="2300" dirty="0">
                <a:latin typeface="Calibri"/>
                <a:cs typeface="Calibri"/>
              </a:rPr>
              <a:t>Includes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smart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automation: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recurring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expense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logging,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anomaly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detection,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AI </a:t>
            </a:r>
            <a:r>
              <a:rPr sz="2300" dirty="0">
                <a:latin typeface="Calibri"/>
                <a:cs typeface="Calibri"/>
              </a:rPr>
              <a:t>financial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advisor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powered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by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Google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Gemini.</a:t>
            </a:r>
            <a:endParaRPr sz="2300">
              <a:latin typeface="Calibri"/>
              <a:cs typeface="Calibri"/>
            </a:endParaRPr>
          </a:p>
          <a:p>
            <a:pPr marL="12700" marR="879475">
              <a:lnSpc>
                <a:spcPct val="100400"/>
              </a:lnSpc>
            </a:pPr>
            <a:r>
              <a:rPr sz="2300" dirty="0">
                <a:latin typeface="Calibri"/>
                <a:cs typeface="Calibri"/>
              </a:rPr>
              <a:t>Ensures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secure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handling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SHA-256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authentication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scalable </a:t>
            </a:r>
            <a:r>
              <a:rPr sz="2300" dirty="0">
                <a:latin typeface="Calibri"/>
                <a:cs typeface="Calibri"/>
              </a:rPr>
              <a:t>modular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architecture.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526" y="1139413"/>
            <a:ext cx="2867025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00" spc="-55" dirty="0"/>
              <a:t>DATASET</a:t>
            </a:r>
            <a:r>
              <a:rPr sz="3100" spc="-65" dirty="0"/>
              <a:t> </a:t>
            </a:r>
            <a:r>
              <a:rPr sz="3100" spc="-10" dirty="0"/>
              <a:t>DETAILS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200717" y="1672321"/>
            <a:ext cx="9671050" cy="3872229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300" dirty="0">
                <a:latin typeface="Calibri"/>
                <a:cs typeface="Calibri"/>
              </a:rPr>
              <a:t>A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publicly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available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personal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finance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dataset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project.</a:t>
            </a:r>
            <a:endParaRPr sz="2300">
              <a:latin typeface="Calibri"/>
              <a:cs typeface="Calibri"/>
            </a:endParaRPr>
          </a:p>
          <a:p>
            <a:pPr marL="12700" marR="377190">
              <a:lnSpc>
                <a:spcPct val="100499"/>
              </a:lnSpc>
              <a:spcBef>
                <a:spcPts val="885"/>
              </a:spcBef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dataset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contains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several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hundred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financial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records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representing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individual expenses.</a:t>
            </a:r>
            <a:endParaRPr sz="2300">
              <a:latin typeface="Calibri"/>
              <a:cs typeface="Calibri"/>
            </a:endParaRPr>
          </a:p>
          <a:p>
            <a:pPr marL="12700" marR="5080">
              <a:lnSpc>
                <a:spcPct val="132600"/>
              </a:lnSpc>
              <a:spcBef>
                <a:spcPts val="15"/>
              </a:spcBef>
            </a:pPr>
            <a:r>
              <a:rPr sz="2300" dirty="0">
                <a:latin typeface="Calibri"/>
                <a:cs typeface="Calibri"/>
              </a:rPr>
              <a:t>It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includes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key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features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such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Category,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Amount,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Date,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Savings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Goal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Status. </a:t>
            </a:r>
            <a:r>
              <a:rPr sz="2300" dirty="0">
                <a:latin typeface="Calibri"/>
                <a:cs typeface="Calibri"/>
              </a:rPr>
              <a:t>Date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further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split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into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70" dirty="0">
                <a:latin typeface="Calibri"/>
                <a:cs typeface="Calibri"/>
              </a:rPr>
              <a:t>Year,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Month,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Day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machine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learning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processing.</a:t>
            </a:r>
            <a:endParaRPr sz="2300">
              <a:latin typeface="Calibri"/>
              <a:cs typeface="Calibri"/>
            </a:endParaRPr>
          </a:p>
          <a:p>
            <a:pPr marL="12700" marR="976630">
              <a:lnSpc>
                <a:spcPct val="100400"/>
              </a:lnSpc>
              <a:spcBef>
                <a:spcPts val="885"/>
              </a:spcBef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dataset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refined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cleaned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suit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requirements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expense </a:t>
            </a:r>
            <a:r>
              <a:rPr sz="2300" dirty="0">
                <a:latin typeface="Calibri"/>
                <a:cs typeface="Calibri"/>
              </a:rPr>
              <a:t>prediction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budget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forecasting.</a:t>
            </a:r>
            <a:endParaRPr sz="2300">
              <a:latin typeface="Calibri"/>
              <a:cs typeface="Calibri"/>
            </a:endParaRPr>
          </a:p>
          <a:p>
            <a:pPr marL="12700" marR="578485">
              <a:lnSpc>
                <a:spcPct val="100499"/>
              </a:lnSpc>
              <a:spcBef>
                <a:spcPts val="890"/>
              </a:spcBef>
            </a:pPr>
            <a:r>
              <a:rPr sz="2300" dirty="0">
                <a:latin typeface="Calibri"/>
                <a:cs typeface="Calibri"/>
              </a:rPr>
              <a:t>Important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columns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identified: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Amount,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Category,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Components,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Savings Goal.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z="2950" spc="-10" dirty="0"/>
              <a:t>PARSING</a:t>
            </a:r>
            <a:r>
              <a:rPr sz="2950" spc="-75" dirty="0"/>
              <a:t> </a:t>
            </a:r>
            <a:r>
              <a:rPr sz="2950" dirty="0"/>
              <a:t>AND</a:t>
            </a:r>
            <a:r>
              <a:rPr sz="2950" spc="-55" dirty="0"/>
              <a:t> </a:t>
            </a:r>
            <a:r>
              <a:rPr sz="2950" spc="-10" dirty="0"/>
              <a:t>CLEANING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103056" y="1710868"/>
            <a:ext cx="9277985" cy="4478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b="1" dirty="0">
                <a:latin typeface="Calibri"/>
                <a:cs typeface="Calibri"/>
              </a:rPr>
              <a:t>Date</a:t>
            </a:r>
            <a:r>
              <a:rPr sz="2300" b="1" spc="-10" dirty="0">
                <a:latin typeface="Calibri"/>
                <a:cs typeface="Calibri"/>
              </a:rPr>
              <a:t> Standardization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&amp;</a:t>
            </a:r>
            <a:r>
              <a:rPr sz="2300" b="1" spc="-10" dirty="0">
                <a:latin typeface="Calibri"/>
                <a:cs typeface="Calibri"/>
              </a:rPr>
              <a:t> Extraction: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raw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column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standardized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into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proper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datetime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format.</a:t>
            </a:r>
            <a:endParaRPr sz="2300">
              <a:latin typeface="Calibri"/>
              <a:cs typeface="Calibri"/>
            </a:endParaRPr>
          </a:p>
          <a:p>
            <a:pPr marL="12700" marR="5080">
              <a:lnSpc>
                <a:spcPct val="100400"/>
              </a:lnSpc>
              <a:spcBef>
                <a:spcPts val="5"/>
              </a:spcBef>
            </a:pPr>
            <a:r>
              <a:rPr sz="2300" dirty="0">
                <a:latin typeface="Calibri"/>
                <a:cs typeface="Calibri"/>
              </a:rPr>
              <a:t>Useful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time-based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features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55" dirty="0">
                <a:latin typeface="Calibri"/>
                <a:cs typeface="Calibri"/>
              </a:rPr>
              <a:t>(</a:t>
            </a:r>
            <a:r>
              <a:rPr sz="2300" b="1" spc="-55" dirty="0">
                <a:latin typeface="Calibri"/>
                <a:cs typeface="Calibri"/>
              </a:rPr>
              <a:t>Year,</a:t>
            </a:r>
            <a:r>
              <a:rPr sz="2300" b="1" spc="-5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Month,</a:t>
            </a:r>
            <a:r>
              <a:rPr sz="2300" b="1" spc="-6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Day</a:t>
            </a:r>
            <a:r>
              <a:rPr sz="2300" dirty="0">
                <a:latin typeface="Calibri"/>
                <a:cs typeface="Calibri"/>
              </a:rPr>
              <a:t>)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were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extracted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forecasting.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original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column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removed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after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extracting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these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components.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300" b="1" dirty="0">
                <a:latin typeface="Calibri"/>
                <a:cs typeface="Calibri"/>
              </a:rPr>
              <a:t>Removal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of</a:t>
            </a:r>
            <a:r>
              <a:rPr sz="2300" b="1" spc="-4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Non-Essential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Attributes:</a:t>
            </a:r>
            <a:endParaRPr sz="2300">
              <a:latin typeface="Calibri"/>
              <a:cs typeface="Calibri"/>
            </a:endParaRPr>
          </a:p>
          <a:p>
            <a:pPr marL="12700" marR="710565">
              <a:lnSpc>
                <a:spcPct val="100400"/>
              </a:lnSpc>
            </a:pPr>
            <a:r>
              <a:rPr sz="2300" spc="-10" dirty="0">
                <a:latin typeface="Calibri"/>
                <a:cs typeface="Calibri"/>
              </a:rPr>
              <a:t>Attributes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contribute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prediction—</a:t>
            </a:r>
            <a:r>
              <a:rPr sz="2300" dirty="0">
                <a:latin typeface="Calibri"/>
                <a:cs typeface="Calibri"/>
              </a:rPr>
              <a:t>such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user_id</a:t>
            </a:r>
            <a:r>
              <a:rPr sz="2300" dirty="0">
                <a:latin typeface="Calibri"/>
                <a:cs typeface="Calibri"/>
              </a:rPr>
              <a:t>—</a:t>
            </a:r>
            <a:r>
              <a:rPr sz="2300" spc="-20" dirty="0">
                <a:latin typeface="Calibri"/>
                <a:cs typeface="Calibri"/>
              </a:rPr>
              <a:t>were </a:t>
            </a:r>
            <a:r>
              <a:rPr sz="2300" spc="-10" dirty="0">
                <a:latin typeface="Calibri"/>
                <a:cs typeface="Calibri"/>
              </a:rPr>
              <a:t>removed.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300" dirty="0">
                <a:latin typeface="Calibri"/>
                <a:cs typeface="Calibri"/>
              </a:rPr>
              <a:t>This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reduced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noise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simplified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feature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space.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300" b="1" dirty="0">
                <a:latin typeface="Calibri"/>
                <a:cs typeface="Calibri"/>
              </a:rPr>
              <a:t>Missing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Value</a:t>
            </a:r>
            <a:r>
              <a:rPr sz="2300" b="1" spc="-3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Handling: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dataset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scanned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incomplete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entries.</a:t>
            </a:r>
            <a:endParaRPr sz="2300">
              <a:latin typeface="Calibri"/>
              <a:cs typeface="Calibri"/>
            </a:endParaRPr>
          </a:p>
          <a:p>
            <a:pPr marL="12700" marR="66675">
              <a:lnSpc>
                <a:spcPct val="100400"/>
              </a:lnSpc>
            </a:pPr>
            <a:r>
              <a:rPr sz="2300" dirty="0">
                <a:latin typeface="Calibri"/>
                <a:cs typeface="Calibri"/>
              </a:rPr>
              <a:t>Rows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missing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values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were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removed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preserve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quality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prevent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10" dirty="0">
                <a:latin typeface="Calibri"/>
                <a:cs typeface="Calibri"/>
              </a:rPr>
              <a:t> instability.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490" y="1064760"/>
            <a:ext cx="367030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10" dirty="0"/>
              <a:t>Categorical</a:t>
            </a:r>
            <a:r>
              <a:rPr sz="2150" spc="-75" dirty="0"/>
              <a:t> </a:t>
            </a:r>
            <a:r>
              <a:rPr sz="2150" spc="-10" dirty="0"/>
              <a:t>Feature</a:t>
            </a:r>
            <a:r>
              <a:rPr sz="2150" spc="-65" dirty="0"/>
              <a:t> </a:t>
            </a:r>
            <a:r>
              <a:rPr sz="2150" spc="-10" dirty="0"/>
              <a:t>Preparation</a:t>
            </a:r>
            <a:r>
              <a:rPr sz="1950" spc="-10" dirty="0"/>
              <a:t>:</a:t>
            </a:r>
            <a:endParaRPr sz="1950"/>
          </a:p>
        </p:txBody>
      </p:sp>
      <p:sp>
        <p:nvSpPr>
          <p:cNvPr id="3" name="object 3"/>
          <p:cNvSpPr txBox="1"/>
          <p:nvPr/>
        </p:nvSpPr>
        <p:spPr>
          <a:xfrm>
            <a:off x="63490" y="1393897"/>
            <a:ext cx="9467215" cy="52057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34645">
              <a:lnSpc>
                <a:spcPct val="101600"/>
              </a:lnSpc>
              <a:spcBef>
                <a:spcPts val="90"/>
              </a:spcBef>
            </a:pPr>
            <a:r>
              <a:rPr sz="1950" dirty="0">
                <a:latin typeface="Calibri"/>
                <a:cs typeface="Calibri"/>
              </a:rPr>
              <a:t>Categorical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columns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such as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expense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category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 savings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goal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status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were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identified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and </a:t>
            </a:r>
            <a:r>
              <a:rPr sz="1950" dirty="0">
                <a:latin typeface="Calibri"/>
                <a:cs typeface="Calibri"/>
              </a:rPr>
              <a:t>prepared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for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encoding.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dirty="0">
                <a:latin typeface="Calibri"/>
                <a:cs typeface="Calibri"/>
              </a:rPr>
              <a:t>Encoding was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performed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using:</a:t>
            </a:r>
            <a:endParaRPr sz="1950">
              <a:latin typeface="Calibri"/>
              <a:cs typeface="Calibri"/>
            </a:endParaRPr>
          </a:p>
          <a:p>
            <a:pPr marL="390525" marR="5110480">
              <a:lnSpc>
                <a:spcPct val="101499"/>
              </a:lnSpc>
              <a:spcBef>
                <a:spcPts val="5"/>
              </a:spcBef>
            </a:pPr>
            <a:r>
              <a:rPr sz="1950" dirty="0">
                <a:latin typeface="Calibri"/>
                <a:cs typeface="Calibri"/>
              </a:rPr>
              <a:t>CatBoost’s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built-in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categorical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handling </a:t>
            </a:r>
            <a:r>
              <a:rPr sz="1950" dirty="0">
                <a:latin typeface="Calibri"/>
                <a:cs typeface="Calibri"/>
              </a:rPr>
              <a:t>LightGBM’s</a:t>
            </a:r>
            <a:r>
              <a:rPr sz="1950" spc="-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category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dtype </a:t>
            </a:r>
            <a:r>
              <a:rPr sz="1950" dirty="0">
                <a:latin typeface="Calibri"/>
                <a:cs typeface="Calibri"/>
              </a:rPr>
              <a:t>OneHotEncoder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for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XGBoost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335"/>
              </a:lnSpc>
              <a:spcBef>
                <a:spcPts val="35"/>
              </a:spcBef>
            </a:pPr>
            <a:r>
              <a:rPr sz="1950" dirty="0">
                <a:latin typeface="Calibri"/>
                <a:cs typeface="Calibri"/>
              </a:rPr>
              <a:t>This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ensured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consistent treatment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categorical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variables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across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all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models.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575"/>
              </a:lnSpc>
            </a:pPr>
            <a:r>
              <a:rPr sz="2150" b="1" dirty="0">
                <a:latin typeface="Calibri"/>
                <a:cs typeface="Calibri"/>
              </a:rPr>
              <a:t>Numerical</a:t>
            </a:r>
            <a:r>
              <a:rPr sz="2150" b="1" spc="-90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Feature</a:t>
            </a:r>
            <a:r>
              <a:rPr sz="2150" b="1" spc="-70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Consistency:</a:t>
            </a:r>
            <a:endParaRPr sz="2150">
              <a:latin typeface="Calibri"/>
              <a:cs typeface="Calibri"/>
            </a:endParaRPr>
          </a:p>
          <a:p>
            <a:pPr marL="12700" marR="175260">
              <a:lnSpc>
                <a:spcPts val="2380"/>
              </a:lnSpc>
              <a:spcBef>
                <a:spcPts val="75"/>
              </a:spcBef>
            </a:pPr>
            <a:r>
              <a:rPr sz="1950" dirty="0">
                <a:latin typeface="Calibri"/>
                <a:cs typeface="Calibri"/>
              </a:rPr>
              <a:t>Numerical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columns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such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as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amount,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year,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month,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day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were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validated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for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correctness. </a:t>
            </a:r>
            <a:r>
              <a:rPr sz="1950" dirty="0">
                <a:latin typeface="Calibri"/>
                <a:cs typeface="Calibri"/>
              </a:rPr>
              <a:t>Any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inconsistent or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non-numeric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values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were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corrected or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removed to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ensure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stable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model training.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1950" dirty="0">
                <a:latin typeface="Calibri"/>
                <a:cs typeface="Calibri"/>
              </a:rPr>
              <a:t>This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step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helps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maintain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model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reliability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during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forecasting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classification.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575"/>
              </a:lnSpc>
            </a:pPr>
            <a:r>
              <a:rPr sz="2150" b="1" dirty="0">
                <a:latin typeface="Calibri"/>
                <a:cs typeface="Calibri"/>
              </a:rPr>
              <a:t>Final</a:t>
            </a:r>
            <a:r>
              <a:rPr sz="2150" b="1" spc="-6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Clean</a:t>
            </a:r>
            <a:r>
              <a:rPr sz="2150" b="1" spc="-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Structured</a:t>
            </a:r>
            <a:r>
              <a:rPr sz="2150" b="1" spc="-65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Dataset: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latin typeface="Calibri"/>
                <a:cs typeface="Calibri"/>
              </a:rPr>
              <a:t>After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preprocessing,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dataset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became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fully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structured,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free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missing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values,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suitable </a:t>
            </a:r>
            <a:r>
              <a:rPr sz="1950" dirty="0">
                <a:latin typeface="Calibri"/>
                <a:cs typeface="Calibri"/>
              </a:rPr>
              <a:t>for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ML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tasks.</a:t>
            </a:r>
            <a:endParaRPr sz="1950">
              <a:latin typeface="Calibri"/>
              <a:cs typeface="Calibri"/>
            </a:endParaRPr>
          </a:p>
          <a:p>
            <a:pPr marL="12700" marR="497840">
              <a:lnSpc>
                <a:spcPts val="2380"/>
              </a:lnSpc>
              <a:spcBef>
                <a:spcPts val="85"/>
              </a:spcBef>
            </a:pPr>
            <a:r>
              <a:rPr sz="1950" dirty="0">
                <a:latin typeface="Calibri"/>
                <a:cs typeface="Calibri"/>
              </a:rPr>
              <a:t>The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cleaned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dataset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enabled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accurate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training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CatBoost,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LightGBM,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XGBoost,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the </a:t>
            </a:r>
            <a:r>
              <a:rPr sz="1950" dirty="0">
                <a:latin typeface="Calibri"/>
                <a:cs typeface="Calibri"/>
              </a:rPr>
              <a:t>stacked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ensemble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model.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5"/>
              </a:spcBef>
            </a:pPr>
            <a:r>
              <a:rPr sz="2950" spc="-25" dirty="0"/>
              <a:t>FEATURE</a:t>
            </a:r>
            <a:r>
              <a:rPr sz="2950" spc="-120" dirty="0"/>
              <a:t> </a:t>
            </a:r>
            <a:r>
              <a:rPr sz="2950" spc="-20" dirty="0"/>
              <a:t>PREPARATION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103083" y="1845058"/>
            <a:ext cx="9515475" cy="45993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120"/>
              </a:spcBef>
            </a:pPr>
            <a:r>
              <a:rPr sz="2450" b="1" dirty="0">
                <a:latin typeface="Calibri"/>
                <a:cs typeface="Calibri"/>
              </a:rPr>
              <a:t>PREPARING</a:t>
            </a:r>
            <a:r>
              <a:rPr sz="2450" b="1" spc="-75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CATEGORICAL</a:t>
            </a:r>
            <a:r>
              <a:rPr sz="2450" b="1" spc="-6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COLUMNS</a:t>
            </a:r>
            <a:r>
              <a:rPr sz="2450" b="1" spc="-6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FOR</a:t>
            </a:r>
            <a:r>
              <a:rPr sz="2450" b="1" spc="-65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MODEL</a:t>
            </a:r>
            <a:r>
              <a:rPr sz="2450" b="1" spc="-60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COMPATIBILITY:</a:t>
            </a:r>
            <a:endParaRPr sz="2450">
              <a:latin typeface="Calibri"/>
              <a:cs typeface="Calibri"/>
            </a:endParaRPr>
          </a:p>
          <a:p>
            <a:pPr marL="53340" marR="185420">
              <a:lnSpc>
                <a:spcPct val="101600"/>
              </a:lnSpc>
              <a:spcBef>
                <a:spcPts val="30"/>
              </a:spcBef>
            </a:pPr>
            <a:r>
              <a:rPr sz="1950" dirty="0">
                <a:latin typeface="Calibri"/>
                <a:cs typeface="Calibri"/>
              </a:rPr>
              <a:t>The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categorical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column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was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prepared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formats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compatible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with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each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ML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model.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(expense category)</a:t>
            </a:r>
            <a:endParaRPr sz="1950">
              <a:latin typeface="Calibri"/>
              <a:cs typeface="Calibri"/>
            </a:endParaRPr>
          </a:p>
          <a:p>
            <a:pPr marL="53340" marR="715010">
              <a:lnSpc>
                <a:spcPct val="101499"/>
              </a:lnSpc>
            </a:pPr>
            <a:r>
              <a:rPr sz="1950" dirty="0">
                <a:latin typeface="Calibri"/>
                <a:cs typeface="Calibri"/>
              </a:rPr>
              <a:t>Since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CatBoost,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XGBoost,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LightGBM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handle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categories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differently,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column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was </a:t>
            </a:r>
            <a:r>
              <a:rPr sz="1950" dirty="0">
                <a:latin typeface="Calibri"/>
                <a:cs typeface="Calibri"/>
              </a:rPr>
              <a:t>transformed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using:</a:t>
            </a:r>
            <a:endParaRPr sz="1950">
              <a:latin typeface="Calibri"/>
              <a:cs typeface="Calibri"/>
            </a:endParaRPr>
          </a:p>
          <a:p>
            <a:pPr marL="431800" marR="5217795">
              <a:lnSpc>
                <a:spcPct val="101499"/>
              </a:lnSpc>
              <a:spcBef>
                <a:spcPts val="5"/>
              </a:spcBef>
            </a:pPr>
            <a:r>
              <a:rPr sz="1950" dirty="0">
                <a:latin typeface="Calibri"/>
                <a:cs typeface="Calibri"/>
              </a:rPr>
              <a:t>CatBoost’s</a:t>
            </a:r>
            <a:r>
              <a:rPr sz="1950" spc="-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native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categorical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handling </a:t>
            </a:r>
            <a:r>
              <a:rPr sz="1950" dirty="0">
                <a:latin typeface="Calibri"/>
                <a:cs typeface="Calibri"/>
              </a:rPr>
              <a:t>LightGBM’s</a:t>
            </a:r>
            <a:r>
              <a:rPr sz="1950" spc="-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category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dtype </a:t>
            </a:r>
            <a:r>
              <a:rPr sz="1950" dirty="0">
                <a:latin typeface="Calibri"/>
                <a:cs typeface="Calibri"/>
              </a:rPr>
              <a:t>OneHotEncoding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for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XGBoost</a:t>
            </a:r>
            <a:endParaRPr sz="1950">
              <a:latin typeface="Calibri"/>
              <a:cs typeface="Calibri"/>
            </a:endParaRPr>
          </a:p>
          <a:p>
            <a:pPr marL="53340">
              <a:lnSpc>
                <a:spcPct val="100000"/>
              </a:lnSpc>
              <a:spcBef>
                <a:spcPts val="35"/>
              </a:spcBef>
            </a:pPr>
            <a:r>
              <a:rPr sz="1950" dirty="0">
                <a:latin typeface="Calibri"/>
                <a:cs typeface="Calibri"/>
              </a:rPr>
              <a:t>This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ensured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smooth,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error-free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training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across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all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models</a:t>
            </a:r>
            <a:r>
              <a:rPr sz="1450" spc="-10" dirty="0"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  <a:p>
            <a:pPr marL="53340">
              <a:lnSpc>
                <a:spcPct val="100000"/>
              </a:lnSpc>
              <a:spcBef>
                <a:spcPts val="890"/>
              </a:spcBef>
            </a:pPr>
            <a:r>
              <a:rPr sz="2450" b="1" dirty="0">
                <a:latin typeface="Calibri"/>
                <a:cs typeface="Calibri"/>
              </a:rPr>
              <a:t>ALIGNING</a:t>
            </a:r>
            <a:r>
              <a:rPr sz="2450" b="1" spc="-35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NUMERICAL</a:t>
            </a:r>
            <a:r>
              <a:rPr sz="2450" b="1" spc="1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FIELDS</a:t>
            </a:r>
            <a:r>
              <a:rPr sz="2450" b="1" spc="-4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FOR</a:t>
            </a:r>
            <a:r>
              <a:rPr sz="2450" b="1" spc="-15" dirty="0">
                <a:latin typeface="Calibri"/>
                <a:cs typeface="Calibri"/>
              </a:rPr>
              <a:t> </a:t>
            </a:r>
            <a:r>
              <a:rPr sz="2450" b="1" spc="-25" dirty="0">
                <a:latin typeface="Calibri"/>
                <a:cs typeface="Calibri"/>
              </a:rPr>
              <a:t>STABLE</a:t>
            </a:r>
            <a:r>
              <a:rPr sz="2450" b="1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LEARNING:</a:t>
            </a:r>
            <a:endParaRPr sz="2450">
              <a:latin typeface="Calibri"/>
              <a:cs typeface="Calibri"/>
            </a:endParaRPr>
          </a:p>
          <a:p>
            <a:pPr marL="12700" marR="1223645" indent="-8255">
              <a:lnSpc>
                <a:spcPct val="101499"/>
              </a:lnSpc>
              <a:spcBef>
                <a:spcPts val="670"/>
              </a:spcBef>
              <a:buSzPct val="94871"/>
              <a:buChar char="•"/>
              <a:tabLst>
                <a:tab pos="99695" algn="l"/>
              </a:tabLst>
            </a:pPr>
            <a:r>
              <a:rPr sz="1950" dirty="0">
                <a:latin typeface="Arial MT"/>
                <a:cs typeface="Arial MT"/>
              </a:rPr>
              <a:t>	Numerical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fields</a:t>
            </a:r>
            <a:r>
              <a:rPr sz="1950" spc="3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such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as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amount,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year,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month,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and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day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were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validated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spc="-25" dirty="0">
                <a:latin typeface="Arial MT"/>
                <a:cs typeface="Arial MT"/>
              </a:rPr>
              <a:t>for </a:t>
            </a:r>
            <a:r>
              <a:rPr sz="1950" dirty="0">
                <a:latin typeface="Arial MT"/>
                <a:cs typeface="Arial MT"/>
              </a:rPr>
              <a:t>consistency</a:t>
            </a:r>
            <a:r>
              <a:rPr sz="1950" spc="3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and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correctness.</a:t>
            </a:r>
            <a:endParaRPr sz="1950">
              <a:latin typeface="Arial MT"/>
              <a:cs typeface="Arial MT"/>
            </a:endParaRPr>
          </a:p>
          <a:p>
            <a:pPr marL="99695" indent="-95250">
              <a:lnSpc>
                <a:spcPct val="100000"/>
              </a:lnSpc>
              <a:spcBef>
                <a:spcPts val="35"/>
              </a:spcBef>
              <a:buSzPct val="94871"/>
              <a:buChar char="•"/>
              <a:tabLst>
                <a:tab pos="99695" algn="l"/>
              </a:tabLst>
            </a:pPr>
            <a:r>
              <a:rPr sz="1950" dirty="0">
                <a:latin typeface="Arial MT"/>
                <a:cs typeface="Arial MT"/>
              </a:rPr>
              <a:t>Only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clean,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valid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numeric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entries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were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retained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to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ensure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stable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model</a:t>
            </a:r>
            <a:r>
              <a:rPr sz="1950" spc="7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learning.</a:t>
            </a:r>
            <a:endParaRPr sz="1950">
              <a:latin typeface="Arial MT"/>
              <a:cs typeface="Arial MT"/>
            </a:endParaRPr>
          </a:p>
          <a:p>
            <a:pPr marL="99695" indent="-95250">
              <a:lnSpc>
                <a:spcPct val="100000"/>
              </a:lnSpc>
              <a:spcBef>
                <a:spcPts val="40"/>
              </a:spcBef>
              <a:buSzPct val="94871"/>
              <a:buChar char="•"/>
              <a:tabLst>
                <a:tab pos="99695" algn="l"/>
              </a:tabLst>
            </a:pPr>
            <a:r>
              <a:rPr sz="1950" dirty="0">
                <a:latin typeface="Arial MT"/>
                <a:cs typeface="Arial MT"/>
              </a:rPr>
              <a:t>This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prevents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model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from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being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influenced</a:t>
            </a:r>
            <a:r>
              <a:rPr sz="1950" spc="3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by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irregular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or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noisy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numerical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values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61" y="1144809"/>
            <a:ext cx="9391015" cy="505523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300" b="1" spc="-10" dirty="0">
                <a:latin typeface="Calibri"/>
                <a:cs typeface="Calibri"/>
              </a:rPr>
              <a:t>CREATING</a:t>
            </a:r>
            <a:r>
              <a:rPr sz="2300" b="1" spc="-4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A</a:t>
            </a:r>
            <a:r>
              <a:rPr sz="2300" b="1" spc="-3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CLEAN,</a:t>
            </a:r>
            <a:r>
              <a:rPr sz="2300" b="1" spc="-4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MINIMAL</a:t>
            </a:r>
            <a:r>
              <a:rPr sz="2300" b="1" spc="-30" dirty="0">
                <a:latin typeface="Calibri"/>
                <a:cs typeface="Calibri"/>
              </a:rPr>
              <a:t> </a:t>
            </a:r>
            <a:r>
              <a:rPr sz="2300" b="1" spc="-20" dirty="0">
                <a:latin typeface="Calibri"/>
                <a:cs typeface="Calibri"/>
              </a:rPr>
              <a:t>FEATURE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b="1" spc="-20" dirty="0">
                <a:latin typeface="Calibri"/>
                <a:cs typeface="Calibri"/>
              </a:rPr>
              <a:t>SET:</a:t>
            </a:r>
            <a:endParaRPr sz="2300">
              <a:latin typeface="Calibri"/>
              <a:cs typeface="Calibri"/>
            </a:endParaRPr>
          </a:p>
          <a:p>
            <a:pPr marL="12700" marR="294005">
              <a:lnSpc>
                <a:spcPct val="100400"/>
              </a:lnSpc>
              <a:spcBef>
                <a:spcPts val="890"/>
              </a:spcBef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dataset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refined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retain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only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features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essential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prediction— </a:t>
            </a:r>
            <a:r>
              <a:rPr sz="2300" spc="-25" dirty="0">
                <a:latin typeface="Calibri"/>
                <a:cs typeface="Calibri"/>
              </a:rPr>
              <a:t>category,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amount,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date-</a:t>
            </a:r>
            <a:r>
              <a:rPr sz="2300" dirty="0">
                <a:latin typeface="Calibri"/>
                <a:cs typeface="Calibri"/>
              </a:rPr>
              <a:t>derived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fields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(year,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month,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day).</a:t>
            </a:r>
            <a:endParaRPr sz="2300">
              <a:latin typeface="Calibri"/>
              <a:cs typeface="Calibri"/>
            </a:endParaRPr>
          </a:p>
          <a:p>
            <a:pPr marL="12700" marR="5080">
              <a:lnSpc>
                <a:spcPct val="100400"/>
              </a:lnSpc>
            </a:pPr>
            <a:r>
              <a:rPr sz="2300" dirty="0">
                <a:latin typeface="Calibri"/>
                <a:cs typeface="Calibri"/>
              </a:rPr>
              <a:t>Removing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unused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attributes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ensured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focused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feature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reduced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noise, </a:t>
            </a:r>
            <a:r>
              <a:rPr sz="2300" dirty="0">
                <a:latin typeface="Calibri"/>
                <a:cs typeface="Calibri"/>
              </a:rPr>
              <a:t>improving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performance.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300" b="1" dirty="0">
                <a:latin typeface="Calibri"/>
                <a:cs typeface="Calibri"/>
              </a:rPr>
              <a:t>SYNCHRONIZING</a:t>
            </a:r>
            <a:r>
              <a:rPr sz="2300" b="1" spc="-45" dirty="0">
                <a:latin typeface="Calibri"/>
                <a:cs typeface="Calibri"/>
              </a:rPr>
              <a:t> </a:t>
            </a:r>
            <a:r>
              <a:rPr sz="2300" b="1" spc="-20" dirty="0">
                <a:latin typeface="Calibri"/>
                <a:cs typeface="Calibri"/>
              </a:rPr>
              <a:t>FEATURES</a:t>
            </a:r>
            <a:r>
              <a:rPr sz="2300" b="1" spc="-8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ACROSS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ALL</a:t>
            </a:r>
            <a:r>
              <a:rPr sz="2300" b="1" spc="-3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MODELS:</a:t>
            </a:r>
            <a:endParaRPr sz="2300">
              <a:latin typeface="Calibri"/>
              <a:cs typeface="Calibri"/>
            </a:endParaRPr>
          </a:p>
          <a:p>
            <a:pPr marL="12700" marR="22860" algn="just">
              <a:lnSpc>
                <a:spcPct val="100400"/>
              </a:lnSpc>
              <a:spcBef>
                <a:spcPts val="890"/>
              </a:spcBef>
            </a:pPr>
            <a:r>
              <a:rPr sz="2300" dirty="0">
                <a:latin typeface="Calibri"/>
                <a:cs typeface="Calibri"/>
              </a:rPr>
              <a:t>Since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CatBoost,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XGBoost,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LightGBM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handle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inputs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differently,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features </a:t>
            </a:r>
            <a:r>
              <a:rPr sz="2300" dirty="0">
                <a:latin typeface="Calibri"/>
                <a:cs typeface="Calibri"/>
              </a:rPr>
              <a:t>were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organized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way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each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received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consistent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compatible representation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same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information.</a:t>
            </a:r>
            <a:endParaRPr sz="2300">
              <a:latin typeface="Calibri"/>
              <a:cs typeface="Calibri"/>
            </a:endParaRPr>
          </a:p>
          <a:p>
            <a:pPr marL="12700" marR="100330" algn="just">
              <a:lnSpc>
                <a:spcPct val="100400"/>
              </a:lnSpc>
            </a:pPr>
            <a:r>
              <a:rPr sz="2300" dirty="0">
                <a:latin typeface="Calibri"/>
                <a:cs typeface="Calibri"/>
              </a:rPr>
              <a:t>CatBoost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native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categorical</a:t>
            </a:r>
            <a:r>
              <a:rPr sz="2300" spc="409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handling,LightGBM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category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dtype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and </a:t>
            </a:r>
            <a:r>
              <a:rPr sz="2300" dirty="0">
                <a:latin typeface="Calibri"/>
                <a:cs typeface="Calibri"/>
              </a:rPr>
              <a:t>XGBoost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used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OneHotEncoded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features</a:t>
            </a:r>
            <a:endParaRPr sz="2300">
              <a:latin typeface="Calibri"/>
              <a:cs typeface="Calibri"/>
            </a:endParaRPr>
          </a:p>
          <a:p>
            <a:pPr marL="12700" marR="205104" algn="just">
              <a:lnSpc>
                <a:spcPct val="100400"/>
              </a:lnSpc>
            </a:pPr>
            <a:r>
              <a:rPr sz="2300" dirty="0">
                <a:latin typeface="Calibri"/>
                <a:cs typeface="Calibri"/>
              </a:rPr>
              <a:t>This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alignment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supported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fair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comparison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enabled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stacked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ensemble design.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486" y="1259785"/>
            <a:ext cx="501269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dirty="0"/>
              <a:t>Ensuring</a:t>
            </a:r>
            <a:r>
              <a:rPr sz="2450" spc="15" dirty="0"/>
              <a:t> </a:t>
            </a:r>
            <a:r>
              <a:rPr sz="2450" dirty="0"/>
              <a:t>Model-Ready Feature</a:t>
            </a:r>
            <a:r>
              <a:rPr sz="2450" spc="5" dirty="0"/>
              <a:t> </a:t>
            </a:r>
            <a:r>
              <a:rPr sz="2450" spc="-10" dirty="0"/>
              <a:t>Inputs: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63561" y="1750506"/>
            <a:ext cx="9888855" cy="143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00"/>
              </a:spcBef>
            </a:pPr>
            <a:r>
              <a:rPr sz="2300" spc="-10" dirty="0">
                <a:latin typeface="Calibri"/>
                <a:cs typeface="Calibri"/>
              </a:rPr>
              <a:t>Before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training,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all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features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were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checked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confirm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they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were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complete,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correctly formatted,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free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from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inconsistencies.</a:t>
            </a:r>
            <a:endParaRPr sz="2300">
              <a:latin typeface="Calibri"/>
              <a:cs typeface="Calibri"/>
            </a:endParaRPr>
          </a:p>
          <a:p>
            <a:pPr marL="12700" marR="509905">
              <a:lnSpc>
                <a:spcPct val="100400"/>
              </a:lnSpc>
            </a:pPr>
            <a:r>
              <a:rPr sz="2300" dirty="0">
                <a:latin typeface="Calibri"/>
                <a:cs typeface="Calibri"/>
              </a:rPr>
              <a:t>This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validation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ensured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dataset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fully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prepared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stable,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accurate,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and </a:t>
            </a:r>
            <a:r>
              <a:rPr sz="2300" dirty="0">
                <a:latin typeface="Calibri"/>
                <a:cs typeface="Calibri"/>
              </a:rPr>
              <a:t>reliable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training.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555" y="1131862"/>
            <a:ext cx="362966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dirty="0"/>
              <a:t>TRAIN</a:t>
            </a:r>
            <a:r>
              <a:rPr sz="2950" spc="-35" dirty="0"/>
              <a:t> </a:t>
            </a:r>
            <a:r>
              <a:rPr sz="2950" dirty="0"/>
              <a:t>TEST</a:t>
            </a:r>
            <a:r>
              <a:rPr sz="2950" spc="-20" dirty="0"/>
              <a:t> </a:t>
            </a:r>
            <a:r>
              <a:rPr sz="2950" dirty="0"/>
              <a:t>SPLIT</a:t>
            </a:r>
            <a:r>
              <a:rPr sz="2950" spc="-25" dirty="0"/>
              <a:t> </a:t>
            </a:r>
            <a:r>
              <a:rPr sz="2950" spc="-70" dirty="0"/>
              <a:t>DATA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127436" y="1669844"/>
            <a:ext cx="9665970" cy="46532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dirty="0">
                <a:latin typeface="Calibri"/>
                <a:cs typeface="Calibri"/>
              </a:rPr>
              <a:t>DIVIDING</a:t>
            </a:r>
            <a:r>
              <a:rPr sz="2450" b="1" spc="-65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THE</a:t>
            </a:r>
            <a:r>
              <a:rPr sz="2450" b="1" spc="-35" dirty="0">
                <a:latin typeface="Calibri"/>
                <a:cs typeface="Calibri"/>
              </a:rPr>
              <a:t> </a:t>
            </a:r>
            <a:r>
              <a:rPr sz="2450" b="1" spc="-100" dirty="0">
                <a:latin typeface="Calibri"/>
                <a:cs typeface="Calibri"/>
              </a:rPr>
              <a:t>DATA</a:t>
            </a:r>
            <a:r>
              <a:rPr sz="2450" b="1" spc="-3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FOR</a:t>
            </a:r>
            <a:r>
              <a:rPr sz="2450" b="1" spc="-3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FAIR</a:t>
            </a:r>
            <a:r>
              <a:rPr sz="2450" b="1" spc="-50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EVALUATION:</a:t>
            </a:r>
            <a:endParaRPr sz="2450">
              <a:latin typeface="Calibri"/>
              <a:cs typeface="Calibri"/>
            </a:endParaRPr>
          </a:p>
          <a:p>
            <a:pPr marL="12700" marR="933450">
              <a:lnSpc>
                <a:spcPct val="100800"/>
              </a:lnSpc>
              <a:spcBef>
                <a:spcPts val="10"/>
              </a:spcBef>
            </a:pPr>
            <a:r>
              <a:rPr sz="2450" spc="-50" dirty="0">
                <a:latin typeface="Calibri"/>
                <a:cs typeface="Calibri"/>
              </a:rPr>
              <a:t>To</a:t>
            </a:r>
            <a:r>
              <a:rPr sz="2450" spc="-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ensure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objective</a:t>
            </a:r>
            <a:r>
              <a:rPr sz="2450" spc="-6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evaluation,the</a:t>
            </a:r>
            <a:r>
              <a:rPr sz="2450" spc="-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dataset</a:t>
            </a:r>
            <a:r>
              <a:rPr sz="2450" spc="-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was</a:t>
            </a:r>
            <a:r>
              <a:rPr sz="2450" spc="-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divided</a:t>
            </a:r>
            <a:r>
              <a:rPr sz="2450" spc="-6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into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separate </a:t>
            </a:r>
            <a:r>
              <a:rPr sz="2450" dirty="0">
                <a:latin typeface="Calibri"/>
                <a:cs typeface="Calibri"/>
              </a:rPr>
              <a:t>training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and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testing</a:t>
            </a:r>
            <a:r>
              <a:rPr sz="2450" spc="-5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portions.</a:t>
            </a:r>
            <a:endParaRPr sz="2450">
              <a:latin typeface="Calibri"/>
              <a:cs typeface="Calibri"/>
            </a:endParaRPr>
          </a:p>
          <a:p>
            <a:pPr marL="12700" marR="1039494">
              <a:lnSpc>
                <a:spcPct val="100800"/>
              </a:lnSpc>
              <a:spcBef>
                <a:spcPts val="15"/>
              </a:spcBef>
            </a:pPr>
            <a:r>
              <a:rPr sz="2450" dirty="0">
                <a:latin typeface="Calibri"/>
                <a:cs typeface="Calibri"/>
              </a:rPr>
              <a:t>This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prevents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model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fromsimply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memorizing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data and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helps </a:t>
            </a:r>
            <a:r>
              <a:rPr sz="2450" dirty="0">
                <a:latin typeface="Calibri"/>
                <a:cs typeface="Calibri"/>
              </a:rPr>
              <a:t>measure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how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well it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performs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on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unseen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financial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records.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ts val="3160"/>
              </a:lnSpc>
            </a:pPr>
            <a:r>
              <a:rPr sz="2650" dirty="0">
                <a:latin typeface="Calibri"/>
                <a:cs typeface="Calibri"/>
              </a:rPr>
              <a:t>The</a:t>
            </a:r>
            <a:r>
              <a:rPr sz="2650" spc="-80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separation</a:t>
            </a:r>
            <a:r>
              <a:rPr sz="2650" spc="-45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ensures</a:t>
            </a:r>
            <a:r>
              <a:rPr sz="2650" spc="-80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reliable</a:t>
            </a:r>
            <a:r>
              <a:rPr sz="2650" spc="-75" dirty="0">
                <a:latin typeface="Calibri"/>
                <a:cs typeface="Calibri"/>
              </a:rPr>
              <a:t> </a:t>
            </a:r>
            <a:r>
              <a:rPr sz="2650" spc="-20" dirty="0">
                <a:latin typeface="Calibri"/>
                <a:cs typeface="Calibri"/>
              </a:rPr>
              <a:t>generalization</a:t>
            </a:r>
            <a:r>
              <a:rPr sz="2650" spc="-45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during</a:t>
            </a:r>
            <a:r>
              <a:rPr sz="2650" spc="-80" dirty="0">
                <a:latin typeface="Calibri"/>
                <a:cs typeface="Calibri"/>
              </a:rPr>
              <a:t> </a:t>
            </a:r>
            <a:r>
              <a:rPr sz="2650" spc="-30" dirty="0">
                <a:latin typeface="Calibri"/>
                <a:cs typeface="Calibri"/>
              </a:rPr>
              <a:t>real-</a:t>
            </a:r>
            <a:r>
              <a:rPr sz="2650" dirty="0">
                <a:latin typeface="Calibri"/>
                <a:cs typeface="Calibri"/>
              </a:rPr>
              <a:t>world</a:t>
            </a:r>
            <a:r>
              <a:rPr sz="2650" spc="-70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usage.</a:t>
            </a:r>
            <a:endParaRPr sz="2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2450" b="1" dirty="0">
                <a:latin typeface="Calibri"/>
                <a:cs typeface="Calibri"/>
              </a:rPr>
              <a:t>TRAINING</a:t>
            </a:r>
            <a:r>
              <a:rPr sz="2450" b="1" spc="-2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THE</a:t>
            </a:r>
            <a:r>
              <a:rPr sz="2450" b="1" spc="15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MODEL</a:t>
            </a:r>
            <a:r>
              <a:rPr sz="2450" b="1" spc="25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WITH</a:t>
            </a:r>
            <a:r>
              <a:rPr sz="2450" b="1" spc="-25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80%</a:t>
            </a:r>
            <a:r>
              <a:rPr sz="2450" b="1" spc="4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OF</a:t>
            </a:r>
            <a:r>
              <a:rPr sz="2450" b="1" spc="1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THE</a:t>
            </a:r>
            <a:r>
              <a:rPr sz="2450" b="1" spc="15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DATA:</a:t>
            </a:r>
            <a:endParaRPr sz="2450">
              <a:latin typeface="Calibri"/>
              <a:cs typeface="Calibri"/>
            </a:endParaRPr>
          </a:p>
          <a:p>
            <a:pPr marL="12700" marR="261620">
              <a:lnSpc>
                <a:spcPct val="100400"/>
              </a:lnSpc>
              <a:spcBef>
                <a:spcPts val="5"/>
              </a:spcBef>
            </a:pPr>
            <a:r>
              <a:rPr sz="2300" dirty="0">
                <a:latin typeface="Calibri"/>
                <a:cs typeface="Calibri"/>
              </a:rPr>
              <a:t>80%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cleaned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dataset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training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machine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learning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models.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portion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allowed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meaningful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patterns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expense categories,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amounts,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date-</a:t>
            </a:r>
            <a:r>
              <a:rPr sz="2300" dirty="0">
                <a:latin typeface="Calibri"/>
                <a:cs typeface="Calibri"/>
              </a:rPr>
              <a:t>based financial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trends.</a:t>
            </a:r>
            <a:endParaRPr sz="2300">
              <a:latin typeface="Calibri"/>
              <a:cs typeface="Calibri"/>
            </a:endParaRPr>
          </a:p>
          <a:p>
            <a:pPr marL="12700" marR="146050">
              <a:lnSpc>
                <a:spcPct val="100400"/>
              </a:lnSpc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remaining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20%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reserved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testing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evaluate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prediction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accuracy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and </a:t>
            </a:r>
            <a:r>
              <a:rPr sz="2300" dirty="0">
                <a:latin typeface="Calibri"/>
                <a:cs typeface="Calibri"/>
              </a:rPr>
              <a:t>overall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performance.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61" y="1134813"/>
            <a:ext cx="560705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/>
              <a:t>TESTING</a:t>
            </a:r>
            <a:r>
              <a:rPr sz="2300" spc="-15" dirty="0"/>
              <a:t> </a:t>
            </a:r>
            <a:r>
              <a:rPr sz="2300" dirty="0"/>
              <a:t>THE</a:t>
            </a:r>
            <a:r>
              <a:rPr sz="2300" spc="-15" dirty="0"/>
              <a:t> </a:t>
            </a:r>
            <a:r>
              <a:rPr sz="2300" dirty="0"/>
              <a:t>MODEL</a:t>
            </a:r>
            <a:r>
              <a:rPr sz="2300" spc="-30" dirty="0"/>
              <a:t> </a:t>
            </a:r>
            <a:r>
              <a:rPr sz="2300" dirty="0"/>
              <a:t>WITH</a:t>
            </a:r>
            <a:r>
              <a:rPr sz="2300" spc="-20" dirty="0"/>
              <a:t> </a:t>
            </a:r>
            <a:r>
              <a:rPr sz="2300" dirty="0"/>
              <a:t>20%</a:t>
            </a:r>
            <a:r>
              <a:rPr sz="2300" spc="10" dirty="0"/>
              <a:t> </a:t>
            </a:r>
            <a:r>
              <a:rPr sz="2300" dirty="0"/>
              <a:t>OF</a:t>
            </a:r>
            <a:r>
              <a:rPr sz="2300" spc="-45" dirty="0"/>
              <a:t> </a:t>
            </a:r>
            <a:r>
              <a:rPr sz="2300" dirty="0"/>
              <a:t>THE</a:t>
            </a:r>
            <a:r>
              <a:rPr sz="2300" spc="-15" dirty="0"/>
              <a:t> </a:t>
            </a:r>
            <a:r>
              <a:rPr sz="2300" spc="-10" dirty="0"/>
              <a:t>DATA:</a:t>
            </a:r>
            <a:endParaRPr sz="2300"/>
          </a:p>
        </p:txBody>
      </p:sp>
      <p:sp>
        <p:nvSpPr>
          <p:cNvPr id="3" name="object 3"/>
          <p:cNvSpPr txBox="1"/>
          <p:nvPr/>
        </p:nvSpPr>
        <p:spPr>
          <a:xfrm>
            <a:off x="63486" y="1599707"/>
            <a:ext cx="9681845" cy="49809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remaining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20%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dataset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used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test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set.</a:t>
            </a:r>
            <a:endParaRPr sz="2300">
              <a:latin typeface="Calibri"/>
              <a:cs typeface="Calibri"/>
            </a:endParaRPr>
          </a:p>
          <a:p>
            <a:pPr marL="12700" marR="552450">
              <a:lnSpc>
                <a:spcPct val="100400"/>
              </a:lnSpc>
            </a:pPr>
            <a:r>
              <a:rPr sz="2300" dirty="0">
                <a:latin typeface="Calibri"/>
                <a:cs typeface="Calibri"/>
              </a:rPr>
              <a:t>This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portion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never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shown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during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training,ensuring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25" dirty="0">
                <a:latin typeface="Calibri"/>
                <a:cs typeface="Calibri"/>
              </a:rPr>
              <a:t> the </a:t>
            </a:r>
            <a:r>
              <a:rPr sz="2300" dirty="0">
                <a:latin typeface="Calibri"/>
                <a:cs typeface="Calibri"/>
              </a:rPr>
              <a:t>evalution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metrics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reflect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real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world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performance</a:t>
            </a:r>
            <a:endParaRPr sz="2300">
              <a:latin typeface="Calibri"/>
              <a:cs typeface="Calibri"/>
            </a:endParaRPr>
          </a:p>
          <a:p>
            <a:pPr marL="12700" marR="681990">
              <a:lnSpc>
                <a:spcPct val="100400"/>
              </a:lnSpc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test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helps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determine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accuracy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reliability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when </a:t>
            </a:r>
            <a:r>
              <a:rPr sz="2300" dirty="0">
                <a:latin typeface="Calibri"/>
                <a:cs typeface="Calibri"/>
              </a:rPr>
              <a:t>encountering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unseen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data.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300" b="1" dirty="0">
                <a:latin typeface="Calibri"/>
                <a:cs typeface="Calibri"/>
              </a:rPr>
              <a:t>ENSURING</a:t>
            </a:r>
            <a:r>
              <a:rPr sz="2300" b="1" spc="-3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CONSISTENT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SPLITTING:</a:t>
            </a:r>
            <a:endParaRPr sz="2300">
              <a:latin typeface="Calibri"/>
              <a:cs typeface="Calibri"/>
            </a:endParaRPr>
          </a:p>
          <a:p>
            <a:pPr marL="12700" marR="1564640">
              <a:lnSpc>
                <a:spcPct val="100400"/>
              </a:lnSpc>
              <a:spcBef>
                <a:spcPts val="890"/>
              </a:spcBef>
            </a:pPr>
            <a:r>
              <a:rPr sz="2300" dirty="0">
                <a:latin typeface="Calibri"/>
                <a:cs typeface="Calibri"/>
              </a:rPr>
              <a:t>A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random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fixed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state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during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train-</a:t>
            </a:r>
            <a:r>
              <a:rPr sz="2300" dirty="0">
                <a:latin typeface="Calibri"/>
                <a:cs typeface="Calibri"/>
              </a:rPr>
              <a:t>test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split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maintain reproducibility.</a:t>
            </a:r>
            <a:endParaRPr sz="2300">
              <a:latin typeface="Calibri"/>
              <a:cs typeface="Calibri"/>
            </a:endParaRPr>
          </a:p>
          <a:p>
            <a:pPr marL="12700" marR="389255">
              <a:lnSpc>
                <a:spcPct val="100400"/>
              </a:lnSpc>
            </a:pPr>
            <a:r>
              <a:rPr sz="2300" dirty="0">
                <a:latin typeface="Calibri"/>
                <a:cs typeface="Calibri"/>
              </a:rPr>
              <a:t>This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ensures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every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run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exact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same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division,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making </a:t>
            </a:r>
            <a:r>
              <a:rPr sz="2300" dirty="0">
                <a:latin typeface="Calibri"/>
                <a:cs typeface="Calibri"/>
              </a:rPr>
              <a:t>comparisons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debugging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consistent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throughout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development.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450" b="1" dirty="0">
                <a:latin typeface="Calibri"/>
                <a:cs typeface="Calibri"/>
              </a:rPr>
              <a:t>Balanced</a:t>
            </a:r>
            <a:r>
              <a:rPr sz="2450" b="1" spc="-2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Data</a:t>
            </a:r>
            <a:r>
              <a:rPr sz="2450" b="1" spc="-30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Usage:</a:t>
            </a:r>
            <a:endParaRPr sz="2450">
              <a:latin typeface="Calibri"/>
              <a:cs typeface="Calibri"/>
            </a:endParaRPr>
          </a:p>
          <a:p>
            <a:pPr marL="12700" marR="5080">
              <a:lnSpc>
                <a:spcPct val="100400"/>
              </a:lnSpc>
              <a:spcBef>
                <a:spcPts val="20"/>
              </a:spcBef>
            </a:pPr>
            <a:r>
              <a:rPr sz="2300" dirty="0">
                <a:latin typeface="Calibri"/>
                <a:cs typeface="Calibri"/>
              </a:rPr>
              <a:t>With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split,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received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enough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from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while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keeping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fair </a:t>
            </a:r>
            <a:r>
              <a:rPr sz="2300" dirty="0">
                <a:latin typeface="Calibri"/>
                <a:cs typeface="Calibri"/>
              </a:rPr>
              <a:t>portion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aside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unbiased </a:t>
            </a:r>
            <a:r>
              <a:rPr sz="2300" spc="-10" dirty="0">
                <a:latin typeface="Calibri"/>
                <a:cs typeface="Calibri"/>
              </a:rPr>
              <a:t>benchmark.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25"/>
              </a:spcBef>
            </a:pPr>
            <a:r>
              <a:rPr sz="2950" spc="-130" dirty="0"/>
              <a:t>DATA</a:t>
            </a:r>
            <a:r>
              <a:rPr sz="2950" spc="-30" dirty="0"/>
              <a:t> </a:t>
            </a:r>
            <a:r>
              <a:rPr sz="2950" spc="-20" dirty="0"/>
              <a:t>PREPARED</a:t>
            </a:r>
            <a:r>
              <a:rPr sz="2950" spc="-70" dirty="0"/>
              <a:t> </a:t>
            </a:r>
            <a:r>
              <a:rPr sz="2950" dirty="0"/>
              <a:t>FOR</a:t>
            </a:r>
            <a:r>
              <a:rPr sz="2950" spc="-50" dirty="0"/>
              <a:t> </a:t>
            </a:r>
            <a:r>
              <a:rPr sz="2950" spc="-10" dirty="0"/>
              <a:t>MODEL</a:t>
            </a:r>
            <a:endParaRPr sz="29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204"/>
              </a:spcBef>
            </a:pPr>
            <a:r>
              <a:rPr dirty="0"/>
              <a:t>After</a:t>
            </a:r>
            <a:r>
              <a:rPr spc="-80" dirty="0"/>
              <a:t> </a:t>
            </a:r>
            <a:r>
              <a:rPr spc="-10" dirty="0"/>
              <a:t>completing</a:t>
            </a:r>
            <a:r>
              <a:rPr spc="-65" dirty="0"/>
              <a:t> </a:t>
            </a:r>
            <a:r>
              <a:rPr dirty="0"/>
              <a:t>all</a:t>
            </a:r>
            <a:r>
              <a:rPr spc="-85" dirty="0"/>
              <a:t> </a:t>
            </a:r>
            <a:r>
              <a:rPr dirty="0"/>
              <a:t>stages</a:t>
            </a:r>
            <a:r>
              <a:rPr spc="-8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parsing,</a:t>
            </a:r>
            <a:r>
              <a:rPr spc="-60" dirty="0"/>
              <a:t> </a:t>
            </a:r>
            <a:r>
              <a:rPr dirty="0"/>
              <a:t>cleaning,</a:t>
            </a:r>
            <a:r>
              <a:rPr spc="-6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10" dirty="0"/>
              <a:t>preparation,</a:t>
            </a:r>
            <a:r>
              <a:rPr spc="-60" dirty="0"/>
              <a:t> </a:t>
            </a:r>
            <a:r>
              <a:rPr spc="-25" dirty="0"/>
              <a:t>the </a:t>
            </a:r>
            <a:r>
              <a:rPr dirty="0"/>
              <a:t>dataset</a:t>
            </a:r>
            <a:r>
              <a:rPr spc="-60" dirty="0"/>
              <a:t> </a:t>
            </a:r>
            <a:r>
              <a:rPr dirty="0"/>
              <a:t>reached</a:t>
            </a:r>
            <a:r>
              <a:rPr spc="-55" dirty="0"/>
              <a:t> </a:t>
            </a:r>
            <a:r>
              <a:rPr dirty="0"/>
              <a:t>a</a:t>
            </a:r>
            <a:r>
              <a:rPr spc="-95" dirty="0"/>
              <a:t> </a:t>
            </a:r>
            <a:r>
              <a:rPr dirty="0"/>
              <a:t>fully</a:t>
            </a:r>
            <a:r>
              <a:rPr spc="-55" dirty="0"/>
              <a:t> </a:t>
            </a:r>
            <a:r>
              <a:rPr spc="-10" dirty="0"/>
              <a:t>structured</a:t>
            </a:r>
            <a:r>
              <a:rPr spc="-8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25" dirty="0"/>
              <a:t>model-</a:t>
            </a:r>
            <a:r>
              <a:rPr dirty="0"/>
              <a:t>ready</a:t>
            </a:r>
            <a:r>
              <a:rPr spc="-75" dirty="0"/>
              <a:t> </a:t>
            </a:r>
            <a:r>
              <a:rPr spc="-10" dirty="0"/>
              <a:t>state.</a:t>
            </a:r>
            <a:r>
              <a:rPr spc="-75" dirty="0"/>
              <a:t> </a:t>
            </a:r>
            <a:r>
              <a:rPr spc="-25" dirty="0"/>
              <a:t>The </a:t>
            </a:r>
            <a:r>
              <a:rPr spc="-10" dirty="0"/>
              <a:t>categorical</a:t>
            </a:r>
            <a:r>
              <a:rPr spc="-65" dirty="0"/>
              <a:t> </a:t>
            </a:r>
            <a:r>
              <a:rPr spc="-10" dirty="0"/>
              <a:t>feature</a:t>
            </a:r>
            <a:r>
              <a:rPr spc="-80" dirty="0"/>
              <a:t> </a:t>
            </a:r>
            <a:r>
              <a:rPr dirty="0"/>
              <a:t>was</a:t>
            </a:r>
            <a:r>
              <a:rPr spc="-85" dirty="0"/>
              <a:t> </a:t>
            </a:r>
            <a:r>
              <a:rPr spc="-20" dirty="0"/>
              <a:t>formatted</a:t>
            </a:r>
            <a:r>
              <a:rPr spc="-75" dirty="0"/>
              <a:t> </a:t>
            </a:r>
            <a:r>
              <a:rPr spc="-10" dirty="0"/>
              <a:t>according</a:t>
            </a:r>
            <a:r>
              <a:rPr spc="-85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spc="-10" dirty="0"/>
              <a:t>specific requirements</a:t>
            </a:r>
            <a:r>
              <a:rPr spc="-8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10" dirty="0"/>
              <a:t>CatBoost,</a:t>
            </a:r>
            <a:r>
              <a:rPr spc="-75" dirty="0"/>
              <a:t> </a:t>
            </a:r>
            <a:r>
              <a:rPr spc="-20" dirty="0"/>
              <a:t>XGBoost,</a:t>
            </a:r>
            <a:r>
              <a:rPr spc="-7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LightGBM,</a:t>
            </a:r>
            <a:r>
              <a:rPr spc="-55" dirty="0"/>
              <a:t> </a:t>
            </a:r>
            <a:r>
              <a:rPr dirty="0"/>
              <a:t>while</a:t>
            </a:r>
            <a:r>
              <a:rPr spc="-45" dirty="0"/>
              <a:t> </a:t>
            </a:r>
            <a:r>
              <a:rPr spc="-10" dirty="0"/>
              <a:t>numerical </a:t>
            </a:r>
            <a:r>
              <a:rPr dirty="0"/>
              <a:t>fields</a:t>
            </a:r>
            <a:r>
              <a:rPr spc="-70" dirty="0"/>
              <a:t> </a:t>
            </a:r>
            <a:r>
              <a:rPr dirty="0"/>
              <a:t>were</a:t>
            </a:r>
            <a:r>
              <a:rPr spc="-90" dirty="0"/>
              <a:t> </a:t>
            </a:r>
            <a:r>
              <a:rPr spc="-10" dirty="0"/>
              <a:t>validated</a:t>
            </a:r>
            <a:r>
              <a:rPr spc="-30" dirty="0"/>
              <a:t> </a:t>
            </a:r>
            <a:r>
              <a:rPr dirty="0"/>
              <a:t>for</a:t>
            </a:r>
            <a:r>
              <a:rPr spc="-90" dirty="0"/>
              <a:t> </a:t>
            </a:r>
            <a:r>
              <a:rPr spc="-10" dirty="0"/>
              <a:t>correctness</a:t>
            </a:r>
            <a:r>
              <a:rPr spc="-9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30" dirty="0"/>
              <a:t>consistency.</a:t>
            </a:r>
            <a:r>
              <a:rPr spc="-75" dirty="0"/>
              <a:t> </a:t>
            </a:r>
            <a:r>
              <a:rPr spc="-10" dirty="0"/>
              <a:t>Irrelevant attributes</a:t>
            </a:r>
            <a:r>
              <a:rPr spc="-90" dirty="0"/>
              <a:t> </a:t>
            </a:r>
            <a:r>
              <a:rPr dirty="0"/>
              <a:t>were</a:t>
            </a:r>
            <a:r>
              <a:rPr spc="-105" dirty="0"/>
              <a:t> </a:t>
            </a:r>
            <a:r>
              <a:rPr spc="-10" dirty="0"/>
              <a:t>removed,</a:t>
            </a:r>
            <a:r>
              <a:rPr spc="-8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only</a:t>
            </a:r>
            <a:r>
              <a:rPr spc="-90" dirty="0"/>
              <a:t> </a:t>
            </a:r>
            <a:r>
              <a:rPr dirty="0"/>
              <a:t>meaningful</a:t>
            </a:r>
            <a:r>
              <a:rPr spc="-60" dirty="0"/>
              <a:t> </a:t>
            </a:r>
            <a:r>
              <a:rPr spc="-10" dirty="0"/>
              <a:t>predictors</a:t>
            </a:r>
            <a:r>
              <a:rPr spc="-90" dirty="0"/>
              <a:t> </a:t>
            </a:r>
            <a:r>
              <a:rPr spc="-20" dirty="0"/>
              <a:t>were </a:t>
            </a:r>
            <a:r>
              <a:rPr spc="-10" dirty="0"/>
              <a:t>retained</a:t>
            </a:r>
            <a:r>
              <a:rPr spc="-6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keep</a:t>
            </a:r>
            <a:r>
              <a:rPr spc="-60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spc="-10" dirty="0"/>
              <a:t>feature</a:t>
            </a:r>
            <a:r>
              <a:rPr spc="-70" dirty="0"/>
              <a:t> </a:t>
            </a:r>
            <a:r>
              <a:rPr dirty="0"/>
              <a:t>space</a:t>
            </a:r>
            <a:r>
              <a:rPr spc="-65" dirty="0"/>
              <a:t> </a:t>
            </a:r>
            <a:r>
              <a:rPr dirty="0"/>
              <a:t>clean</a:t>
            </a:r>
            <a:r>
              <a:rPr spc="-6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focused.</a:t>
            </a:r>
          </a:p>
          <a:p>
            <a:pPr marL="12700">
              <a:lnSpc>
                <a:spcPts val="3045"/>
              </a:lnSpc>
            </a:pP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train–test</a:t>
            </a:r>
            <a:r>
              <a:rPr spc="-75" dirty="0"/>
              <a:t> </a:t>
            </a:r>
            <a:r>
              <a:rPr dirty="0"/>
              <a:t>split</a:t>
            </a:r>
            <a:r>
              <a:rPr spc="-50" dirty="0"/>
              <a:t> </a:t>
            </a:r>
            <a:r>
              <a:rPr dirty="0"/>
              <a:t>further</a:t>
            </a:r>
            <a:r>
              <a:rPr spc="-85" dirty="0"/>
              <a:t> </a:t>
            </a:r>
            <a:r>
              <a:rPr dirty="0"/>
              <a:t>ensured</a:t>
            </a:r>
            <a:r>
              <a:rPr spc="-75" dirty="0"/>
              <a:t> </a:t>
            </a:r>
            <a:r>
              <a:rPr dirty="0"/>
              <a:t>that</a:t>
            </a:r>
            <a:r>
              <a:rPr spc="-5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model</a:t>
            </a:r>
            <a:r>
              <a:rPr spc="-70" dirty="0"/>
              <a:t> </a:t>
            </a:r>
            <a:r>
              <a:rPr dirty="0"/>
              <a:t>learned</a:t>
            </a:r>
            <a:r>
              <a:rPr spc="-50" dirty="0"/>
              <a:t> </a:t>
            </a:r>
            <a:r>
              <a:rPr spc="-20" dirty="0"/>
              <a:t>from</a:t>
            </a:r>
          </a:p>
          <a:p>
            <a:pPr marL="12700" marR="236220">
              <a:lnSpc>
                <a:spcPts val="3170"/>
              </a:lnSpc>
              <a:spcBef>
                <a:spcPts val="95"/>
              </a:spcBef>
            </a:pPr>
            <a:r>
              <a:rPr dirty="0"/>
              <a:t>reliable</a:t>
            </a:r>
            <a:r>
              <a:rPr spc="-75" dirty="0"/>
              <a:t> </a:t>
            </a:r>
            <a:r>
              <a:rPr dirty="0"/>
              <a:t>data</a:t>
            </a:r>
            <a:r>
              <a:rPr spc="-7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was</a:t>
            </a:r>
            <a:r>
              <a:rPr spc="-75" dirty="0"/>
              <a:t> </a:t>
            </a:r>
            <a:r>
              <a:rPr spc="-10" dirty="0"/>
              <a:t>evaluated</a:t>
            </a:r>
            <a:r>
              <a:rPr spc="-60" dirty="0"/>
              <a:t> </a:t>
            </a:r>
            <a:r>
              <a:rPr dirty="0"/>
              <a:t>on</a:t>
            </a:r>
            <a:r>
              <a:rPr spc="-90" dirty="0"/>
              <a:t> </a:t>
            </a:r>
            <a:r>
              <a:rPr dirty="0"/>
              <a:t>unseen</a:t>
            </a:r>
            <a:r>
              <a:rPr spc="-90" dirty="0"/>
              <a:t> </a:t>
            </a:r>
            <a:r>
              <a:rPr spc="-10" dirty="0"/>
              <a:t>examples.</a:t>
            </a:r>
            <a:r>
              <a:rPr spc="-60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spc="-10" dirty="0"/>
              <a:t>every feature</a:t>
            </a:r>
            <a:r>
              <a:rPr spc="-85" dirty="0"/>
              <a:t> </a:t>
            </a:r>
            <a:r>
              <a:rPr spc="-10" dirty="0"/>
              <a:t>checked,</a:t>
            </a:r>
            <a:r>
              <a:rPr spc="-90" dirty="0"/>
              <a:t> </a:t>
            </a:r>
            <a:r>
              <a:rPr spc="-20" dirty="0"/>
              <a:t>formatted,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properly</a:t>
            </a:r>
            <a:r>
              <a:rPr spc="-70" dirty="0"/>
              <a:t> </a:t>
            </a:r>
            <a:r>
              <a:rPr spc="-10" dirty="0"/>
              <a:t>structured</a:t>
            </a:r>
            <a:r>
              <a:rPr spc="-100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each</a:t>
            </a:r>
            <a:r>
              <a:rPr spc="-55" dirty="0"/>
              <a:t> </a:t>
            </a:r>
            <a:r>
              <a:rPr spc="-25" dirty="0"/>
              <a:t>ML </a:t>
            </a:r>
            <a:r>
              <a:rPr spc="-10" dirty="0"/>
              <a:t>framework,</a:t>
            </a:r>
            <a:r>
              <a:rPr spc="-100" dirty="0"/>
              <a:t> </a:t>
            </a:r>
            <a:r>
              <a:rPr dirty="0"/>
              <a:t>the</a:t>
            </a:r>
            <a:r>
              <a:rPr spc="-95" dirty="0"/>
              <a:t> </a:t>
            </a:r>
            <a:r>
              <a:rPr dirty="0"/>
              <a:t>dataset</a:t>
            </a:r>
            <a:r>
              <a:rPr spc="-60" dirty="0"/>
              <a:t> </a:t>
            </a:r>
            <a:r>
              <a:rPr dirty="0"/>
              <a:t>was</a:t>
            </a:r>
            <a:r>
              <a:rPr spc="-75" dirty="0"/>
              <a:t> </a:t>
            </a:r>
            <a:r>
              <a:rPr dirty="0"/>
              <a:t>now</a:t>
            </a:r>
            <a:r>
              <a:rPr spc="-85" dirty="0"/>
              <a:t> </a:t>
            </a:r>
            <a:r>
              <a:rPr spc="-10" dirty="0"/>
              <a:t>completely</a:t>
            </a:r>
            <a:r>
              <a:rPr spc="-80" dirty="0"/>
              <a:t> </a:t>
            </a:r>
            <a:r>
              <a:rPr spc="-10" dirty="0"/>
              <a:t>prepared</a:t>
            </a:r>
            <a:r>
              <a:rPr spc="-90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spc="-10" dirty="0"/>
              <a:t>accurate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stable</a:t>
            </a:r>
            <a:r>
              <a:rPr spc="-70" dirty="0"/>
              <a:t> </a:t>
            </a:r>
            <a:r>
              <a:rPr spc="-20" dirty="0"/>
              <a:t>machine-</a:t>
            </a:r>
            <a:r>
              <a:rPr dirty="0"/>
              <a:t>learning</a:t>
            </a:r>
            <a:r>
              <a:rPr spc="-55" dirty="0"/>
              <a:t> </a:t>
            </a:r>
            <a:r>
              <a:rPr spc="-10" dirty="0"/>
              <a:t>training.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436" y="1061736"/>
            <a:ext cx="409829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Model</a:t>
            </a:r>
            <a:r>
              <a:rPr spc="-60" dirty="0"/>
              <a:t> </a:t>
            </a:r>
            <a:r>
              <a:rPr dirty="0"/>
              <a:t>Selection</a:t>
            </a:r>
            <a:r>
              <a:rPr spc="-85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10" dirty="0"/>
              <a:t>Overview: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083" y="1447327"/>
            <a:ext cx="9695815" cy="5307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machine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learning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component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project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built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using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three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advanced </a:t>
            </a:r>
            <a:r>
              <a:rPr sz="2300" spc="-20" dirty="0">
                <a:latin typeface="Calibri"/>
                <a:cs typeface="Calibri"/>
              </a:rPr>
              <a:t>gradient-</a:t>
            </a:r>
            <a:r>
              <a:rPr sz="2300" dirty="0">
                <a:latin typeface="Calibri"/>
                <a:cs typeface="Calibri"/>
              </a:rPr>
              <a:t>boosting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algorithms: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CatBoost,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XGBoost,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 LightGBM.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These</a:t>
            </a:r>
            <a:r>
              <a:rPr sz="2300" spc="-10" dirty="0">
                <a:latin typeface="Calibri"/>
                <a:cs typeface="Calibri"/>
              </a:rPr>
              <a:t> models </a:t>
            </a:r>
            <a:r>
              <a:rPr sz="2300" dirty="0">
                <a:latin typeface="Calibri"/>
                <a:cs typeface="Calibri"/>
              </a:rPr>
              <a:t>were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selected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because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their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strong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performance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tabular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datasets,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their </a:t>
            </a:r>
            <a:r>
              <a:rPr sz="2300" dirty="0">
                <a:latin typeface="Calibri"/>
                <a:cs typeface="Calibri"/>
              </a:rPr>
              <a:t>ability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handle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mixed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numerical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10" dirty="0">
                <a:latin typeface="Calibri"/>
                <a:cs typeface="Calibri"/>
              </a:rPr>
              <a:t> categorical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features,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their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proven </a:t>
            </a:r>
            <a:r>
              <a:rPr sz="2300" dirty="0">
                <a:latin typeface="Calibri"/>
                <a:cs typeface="Calibri"/>
              </a:rPr>
              <a:t>reliability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financial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prediction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tasks.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CatBoost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offers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native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support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for </a:t>
            </a:r>
            <a:r>
              <a:rPr sz="2300" spc="-10" dirty="0">
                <a:latin typeface="Calibri"/>
                <a:cs typeface="Calibri"/>
              </a:rPr>
              <a:t>categorical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variables,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reducing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need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heavy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preprocessing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allowing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the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category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interactions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effectively.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XGBoost,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known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its </a:t>
            </a:r>
            <a:r>
              <a:rPr sz="2300" dirty="0">
                <a:latin typeface="Calibri"/>
                <a:cs typeface="Calibri"/>
              </a:rPr>
              <a:t>robustness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precision,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included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capture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deeper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non-</a:t>
            </a:r>
            <a:r>
              <a:rPr sz="2300" spc="-10" dirty="0">
                <a:latin typeface="Calibri"/>
                <a:cs typeface="Calibri"/>
              </a:rPr>
              <a:t>linear </a:t>
            </a:r>
            <a:r>
              <a:rPr sz="2300" dirty="0">
                <a:latin typeface="Calibri"/>
                <a:cs typeface="Calibri"/>
              </a:rPr>
              <a:t>relationships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by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using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OneHotEncoded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features.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LightGBM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contributes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high- </a:t>
            </a:r>
            <a:r>
              <a:rPr sz="2300" dirty="0">
                <a:latin typeface="Calibri"/>
                <a:cs typeface="Calibri"/>
              </a:rPr>
              <a:t>speed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training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efficiency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through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leaf-</a:t>
            </a:r>
            <a:r>
              <a:rPr sz="2300" dirty="0">
                <a:latin typeface="Calibri"/>
                <a:cs typeface="Calibri"/>
              </a:rPr>
              <a:t>wise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growth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strategy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category- </a:t>
            </a:r>
            <a:r>
              <a:rPr sz="2300" dirty="0">
                <a:latin typeface="Calibri"/>
                <a:cs typeface="Calibri"/>
              </a:rPr>
              <a:t>aware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handling.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45" dirty="0">
                <a:latin typeface="Calibri"/>
                <a:cs typeface="Calibri"/>
              </a:rPr>
              <a:t>Together,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these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provide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complementary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strengths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form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basis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powerful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ensemble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system.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objective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behind </a:t>
            </a:r>
            <a:r>
              <a:rPr sz="2300" dirty="0">
                <a:latin typeface="Calibri"/>
                <a:cs typeface="Calibri"/>
              </a:rPr>
              <a:t>selecting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these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three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algorithms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leverage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their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diverse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learning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behaviors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to </a:t>
            </a:r>
            <a:r>
              <a:rPr sz="2300" dirty="0">
                <a:latin typeface="Calibri"/>
                <a:cs typeface="Calibri"/>
              </a:rPr>
              <a:t>achieve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more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accurate,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stable,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generalizable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predictions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financial forecasting</a:t>
            </a:r>
            <a:r>
              <a:rPr sz="1450" spc="-10" dirty="0"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425" y="1118052"/>
            <a:ext cx="366204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Individual</a:t>
            </a:r>
            <a:r>
              <a:rPr spc="-75" dirty="0"/>
              <a:t> </a:t>
            </a:r>
            <a:r>
              <a:rPr dirty="0"/>
              <a:t>Model</a:t>
            </a:r>
            <a:r>
              <a:rPr spc="-75" dirty="0"/>
              <a:t> </a:t>
            </a:r>
            <a:r>
              <a:rPr spc="-10" dirty="0"/>
              <a:t>Training: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63" y="1604201"/>
            <a:ext cx="9791065" cy="4779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Each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machine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learning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project was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trained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separately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understand </a:t>
            </a:r>
            <a:r>
              <a:rPr sz="2200" dirty="0">
                <a:latin typeface="Calibri"/>
                <a:cs typeface="Calibri"/>
              </a:rPr>
              <a:t>spending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patterns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contribute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unique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predictive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strengths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overall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system. </a:t>
            </a:r>
            <a:r>
              <a:rPr sz="2200" dirty="0">
                <a:latin typeface="Calibri"/>
                <a:cs typeface="Calibri"/>
              </a:rPr>
              <a:t>The CatBoost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trained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original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categorical and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numerical </a:t>
            </a:r>
            <a:r>
              <a:rPr sz="2200" spc="-10" dirty="0">
                <a:latin typeface="Calibri"/>
                <a:cs typeface="Calibri"/>
              </a:rPr>
              <a:t>features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minimal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preprocessing,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allowing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automatically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handle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category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encodings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capture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complex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interactions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within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data.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XGBoost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required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dedicated </a:t>
            </a:r>
            <a:r>
              <a:rPr sz="2200" dirty="0">
                <a:latin typeface="Calibri"/>
                <a:cs typeface="Calibri"/>
              </a:rPr>
              <a:t>preprocessing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pipeline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 categorical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were transformed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using </a:t>
            </a:r>
            <a:r>
              <a:rPr sz="2200" dirty="0">
                <a:latin typeface="Calibri"/>
                <a:cs typeface="Calibri"/>
              </a:rPr>
              <a:t>OneHotEncoding,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ensuring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received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fully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numerical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inputs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suitable</a:t>
            </a:r>
            <a:r>
              <a:rPr sz="2200" spc="55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gradient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boosting.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LightGBM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trained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features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10" dirty="0">
                <a:latin typeface="Calibri"/>
                <a:cs typeface="Calibri"/>
              </a:rPr>
              <a:t> relied </a:t>
            </a:r>
            <a:r>
              <a:rPr sz="2200" dirty="0">
                <a:latin typeface="Calibri"/>
                <a:cs typeface="Calibri"/>
              </a:rPr>
              <a:t>on converting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categorical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columns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category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dtype,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enabling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faster training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efficient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tree construction.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three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were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trained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80%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dataset,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consistent </a:t>
            </a:r>
            <a:r>
              <a:rPr sz="2200" spc="-10" dirty="0">
                <a:latin typeface="Calibri"/>
                <a:cs typeface="Calibri"/>
              </a:rPr>
              <a:t>parameters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such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controlled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learning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rates,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optimized depth,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fixed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random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ensure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stable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 reproducible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performance.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Through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this </a:t>
            </a:r>
            <a:r>
              <a:rPr sz="2200" dirty="0">
                <a:latin typeface="Calibri"/>
                <a:cs typeface="Calibri"/>
              </a:rPr>
              <a:t>individual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training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learned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different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aspects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spending behavior,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laying 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foundation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 more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accurate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reliable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ensemble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approach.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Stacked</a:t>
            </a:r>
            <a:r>
              <a:rPr spc="-125" dirty="0"/>
              <a:t> </a:t>
            </a:r>
            <a:r>
              <a:rPr dirty="0"/>
              <a:t>Ensemble</a:t>
            </a:r>
            <a:r>
              <a:rPr spc="-114" dirty="0"/>
              <a:t> </a:t>
            </a:r>
            <a:r>
              <a:rPr spc="-10" dirty="0"/>
              <a:t>Architecture</a:t>
            </a:r>
            <a:r>
              <a:rPr spc="-12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61" y="1634750"/>
            <a:ext cx="9908540" cy="4954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sz="2300" dirty="0">
                <a:latin typeface="Calibri"/>
                <a:cs typeface="Calibri"/>
              </a:rPr>
              <a:t>After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training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individual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models,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their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strengths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were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combined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stacked </a:t>
            </a:r>
            <a:r>
              <a:rPr sz="2300" dirty="0">
                <a:latin typeface="Calibri"/>
                <a:cs typeface="Calibri"/>
              </a:rPr>
              <a:t>ensemble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approach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achieve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higher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prediction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accuracy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better generalization.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architecture,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first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layer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consists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three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base </a:t>
            </a:r>
            <a:r>
              <a:rPr sz="2300" spc="-10" dirty="0">
                <a:latin typeface="Calibri"/>
                <a:cs typeface="Calibri"/>
              </a:rPr>
              <a:t>models—</a:t>
            </a:r>
            <a:r>
              <a:rPr sz="2300" dirty="0">
                <a:latin typeface="Calibri"/>
                <a:cs typeface="Calibri"/>
              </a:rPr>
              <a:t>CatBoost,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XGBoost,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LightGBM—</a:t>
            </a:r>
            <a:r>
              <a:rPr sz="2300" dirty="0">
                <a:latin typeface="Calibri"/>
                <a:cs typeface="Calibri"/>
              </a:rPr>
              <a:t>which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independently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generate </a:t>
            </a:r>
            <a:r>
              <a:rPr sz="2300" dirty="0">
                <a:latin typeface="Calibri"/>
                <a:cs typeface="Calibri"/>
              </a:rPr>
              <a:t>predictions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using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same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input</a:t>
            </a:r>
            <a:r>
              <a:rPr sz="2300" spc="-10" dirty="0">
                <a:latin typeface="Calibri"/>
                <a:cs typeface="Calibri"/>
              </a:rPr>
              <a:t> features.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Instead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relying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any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single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model, </a:t>
            </a:r>
            <a:r>
              <a:rPr sz="2300" dirty="0">
                <a:latin typeface="Calibri"/>
                <a:cs typeface="Calibri"/>
              </a:rPr>
              <a:t>these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outputs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used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new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input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features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second-</a:t>
            </a:r>
            <a:r>
              <a:rPr sz="2300" dirty="0">
                <a:latin typeface="Calibri"/>
                <a:cs typeface="Calibri"/>
              </a:rPr>
              <a:t>level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meta-model. </a:t>
            </a:r>
            <a:r>
              <a:rPr sz="2300" dirty="0">
                <a:latin typeface="Calibri"/>
                <a:cs typeface="Calibri"/>
              </a:rPr>
              <a:t>CatBoost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selected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meta-</a:t>
            </a:r>
            <a:r>
              <a:rPr sz="2300" dirty="0">
                <a:latin typeface="Calibri"/>
                <a:cs typeface="Calibri"/>
              </a:rPr>
              <a:t>learner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because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ability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handle</a:t>
            </a:r>
            <a:r>
              <a:rPr sz="2300" spc="-10" dirty="0">
                <a:latin typeface="Calibri"/>
                <a:cs typeface="Calibri"/>
              </a:rPr>
              <a:t> mixed </a:t>
            </a:r>
            <a:r>
              <a:rPr sz="2300" dirty="0">
                <a:latin typeface="Calibri"/>
                <a:cs typeface="Calibri"/>
              </a:rPr>
              <a:t>input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values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complex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patterns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from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base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predictions.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This </a:t>
            </a:r>
            <a:r>
              <a:rPr sz="2300" dirty="0">
                <a:latin typeface="Calibri"/>
                <a:cs typeface="Calibri"/>
              </a:rPr>
              <a:t>creates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multi-</a:t>
            </a:r>
            <a:r>
              <a:rPr sz="2300" dirty="0">
                <a:latin typeface="Calibri"/>
                <a:cs typeface="Calibri"/>
              </a:rPr>
              <a:t>stage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learning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system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where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first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layer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captures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diverse </a:t>
            </a:r>
            <a:r>
              <a:rPr sz="2300" dirty="0">
                <a:latin typeface="Calibri"/>
                <a:cs typeface="Calibri"/>
              </a:rPr>
              <a:t>perspectives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data,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second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layer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refines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integrates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these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insights </a:t>
            </a:r>
            <a:r>
              <a:rPr sz="2300" dirty="0">
                <a:latin typeface="Calibri"/>
                <a:cs typeface="Calibri"/>
              </a:rPr>
              <a:t>into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more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stable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accurate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final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prediction.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stacked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ensemble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effectively </a:t>
            </a:r>
            <a:r>
              <a:rPr sz="2300" dirty="0">
                <a:latin typeface="Calibri"/>
                <a:cs typeface="Calibri"/>
              </a:rPr>
              <a:t>reduces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weaknesses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individual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models,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minimizes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overfitting,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provides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a </a:t>
            </a:r>
            <a:r>
              <a:rPr sz="2300" dirty="0">
                <a:latin typeface="Calibri"/>
                <a:cs typeface="Calibri"/>
              </a:rPr>
              <a:t>more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reliable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forecasting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mechanism,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making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well-</a:t>
            </a:r>
            <a:r>
              <a:rPr sz="2300" dirty="0">
                <a:latin typeface="Calibri"/>
                <a:cs typeface="Calibri"/>
              </a:rPr>
              <a:t>suited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financial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prediction </a:t>
            </a:r>
            <a:r>
              <a:rPr sz="2300" dirty="0">
                <a:latin typeface="Calibri"/>
                <a:cs typeface="Calibri"/>
              </a:rPr>
              <a:t>scenarios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where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precision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stability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crucial.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0"/>
              </a:spcBef>
            </a:pPr>
            <a:r>
              <a:rPr dirty="0"/>
              <a:t>Model</a:t>
            </a:r>
            <a:r>
              <a:rPr spc="-45" dirty="0"/>
              <a:t> </a:t>
            </a:r>
            <a:r>
              <a:rPr spc="-20" dirty="0"/>
              <a:t>Evaluation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Comparison: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455" y="1620984"/>
            <a:ext cx="9560560" cy="411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00"/>
              </a:spcBef>
            </a:pPr>
            <a:r>
              <a:rPr sz="2050" dirty="0">
                <a:latin typeface="Calibri"/>
                <a:cs typeface="Calibri"/>
              </a:rPr>
              <a:t>Once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individual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models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stacked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ensemble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were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trained,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their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performance </a:t>
            </a:r>
            <a:r>
              <a:rPr sz="2050" dirty="0">
                <a:latin typeface="Calibri"/>
                <a:cs typeface="Calibri"/>
              </a:rPr>
              <a:t>was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evaluated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using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20%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test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split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to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determine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how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well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they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generalized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to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unseen </a:t>
            </a:r>
            <a:r>
              <a:rPr sz="2050" dirty="0">
                <a:latin typeface="Calibri"/>
                <a:cs typeface="Calibri"/>
              </a:rPr>
              <a:t>data.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Each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model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produced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predictions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on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test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set,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these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outputs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were</a:t>
            </a:r>
            <a:r>
              <a:rPr sz="2050" spc="-10" dirty="0">
                <a:latin typeface="Calibri"/>
                <a:cs typeface="Calibri"/>
              </a:rPr>
              <a:t> compared </a:t>
            </a:r>
            <a:r>
              <a:rPr sz="2050" dirty="0">
                <a:latin typeface="Calibri"/>
                <a:cs typeface="Calibri"/>
              </a:rPr>
              <a:t>against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actual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values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to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measure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accuracy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overall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reliability.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CatBoost </a:t>
            </a:r>
            <a:r>
              <a:rPr sz="2050" dirty="0">
                <a:latin typeface="Calibri"/>
                <a:cs typeface="Calibri"/>
              </a:rPr>
              <a:t>demonstrated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strong</a:t>
            </a:r>
            <a:r>
              <a:rPr sz="2050" spc="-7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performance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due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to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its</a:t>
            </a:r>
            <a:r>
              <a:rPr sz="2050" spc="-7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effective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handling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of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categorical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features, </a:t>
            </a:r>
            <a:r>
              <a:rPr sz="2050" dirty="0">
                <a:latin typeface="Calibri"/>
                <a:cs typeface="Calibri"/>
              </a:rPr>
              <a:t>while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XGBoost</a:t>
            </a:r>
            <a:r>
              <a:rPr sz="2050" spc="-7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LightGBM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also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produced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competitive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results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through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their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optimized tree-</a:t>
            </a:r>
            <a:r>
              <a:rPr sz="2050" dirty="0">
                <a:latin typeface="Calibri"/>
                <a:cs typeface="Calibri"/>
              </a:rPr>
              <a:t>based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learning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mechanisms.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However,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stacked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ensemble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consistently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achieved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highest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accuracy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because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it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combined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 </a:t>
            </a:r>
            <a:r>
              <a:rPr sz="2050" spc="-10" dirty="0">
                <a:latin typeface="Calibri"/>
                <a:cs typeface="Calibri"/>
              </a:rPr>
              <a:t>strengths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of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all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three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base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models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and </a:t>
            </a:r>
            <a:r>
              <a:rPr sz="2050" dirty="0">
                <a:latin typeface="Calibri"/>
                <a:cs typeface="Calibri"/>
              </a:rPr>
              <a:t>reduced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likelihood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of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model-</a:t>
            </a:r>
            <a:r>
              <a:rPr sz="2050" dirty="0">
                <a:latin typeface="Calibri"/>
                <a:cs typeface="Calibri"/>
              </a:rPr>
              <a:t>specific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errors.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evaluation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confirmed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that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the </a:t>
            </a:r>
            <a:r>
              <a:rPr sz="2050" dirty="0">
                <a:latin typeface="Calibri"/>
                <a:cs typeface="Calibri"/>
              </a:rPr>
              <a:t>ensemble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approach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not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only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improved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predictive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stability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but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also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delivered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more </a:t>
            </a:r>
            <a:r>
              <a:rPr sz="2050" dirty="0">
                <a:latin typeface="Calibri"/>
                <a:cs typeface="Calibri"/>
              </a:rPr>
              <a:t>consistent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forecasts</a:t>
            </a:r>
            <a:r>
              <a:rPr sz="2050" spc="-7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across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different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expense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categories</a:t>
            </a:r>
            <a:r>
              <a:rPr sz="2050" spc="-7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time-</a:t>
            </a:r>
            <a:r>
              <a:rPr sz="2050" dirty="0">
                <a:latin typeface="Calibri"/>
                <a:cs typeface="Calibri"/>
              </a:rPr>
              <a:t>based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patterns.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This </a:t>
            </a:r>
            <a:r>
              <a:rPr sz="2050" dirty="0">
                <a:latin typeface="Calibri"/>
                <a:cs typeface="Calibri"/>
              </a:rPr>
              <a:t>comparative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analysis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validated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choice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of</a:t>
            </a:r>
            <a:r>
              <a:rPr sz="2050" spc="-7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using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multiple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models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reinforced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the </a:t>
            </a:r>
            <a:r>
              <a:rPr sz="2050" dirty="0">
                <a:latin typeface="Calibri"/>
                <a:cs typeface="Calibri"/>
              </a:rPr>
              <a:t>ensemble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as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final and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most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reliable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predictor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for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system.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425" y="1061736"/>
            <a:ext cx="290766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System</a:t>
            </a:r>
            <a:r>
              <a:rPr spc="-130" dirty="0"/>
              <a:t> </a:t>
            </a:r>
            <a:r>
              <a:rPr spc="-10" dirty="0"/>
              <a:t>Architecture: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63" y="1579841"/>
            <a:ext cx="9862820" cy="5119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deployment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BudgetWise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AI is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structured around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lightweight yet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efficient </a:t>
            </a:r>
            <a:r>
              <a:rPr sz="2200" dirty="0">
                <a:latin typeface="Calibri"/>
                <a:cs typeface="Calibri"/>
              </a:rPr>
              <a:t>architecture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integrates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machine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learning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fully interactive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web </a:t>
            </a:r>
            <a:r>
              <a:rPr sz="2200" dirty="0">
                <a:latin typeface="Calibri"/>
                <a:cs typeface="Calibri"/>
              </a:rPr>
              <a:t>application.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Streamlit-based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front-</a:t>
            </a:r>
            <a:r>
              <a:rPr sz="2200" dirty="0">
                <a:latin typeface="Calibri"/>
                <a:cs typeface="Calibri"/>
              </a:rPr>
              <a:t>end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interface,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which </a:t>
            </a:r>
            <a:r>
              <a:rPr sz="2200" dirty="0">
                <a:latin typeface="Calibri"/>
                <a:cs typeface="Calibri"/>
              </a:rPr>
              <a:t>handles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interaction,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input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processing,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visualization.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front-</a:t>
            </a:r>
            <a:r>
              <a:rPr sz="2200" spc="-25" dirty="0">
                <a:latin typeface="Calibri"/>
                <a:cs typeface="Calibri"/>
              </a:rPr>
              <a:t>end </a:t>
            </a:r>
            <a:r>
              <a:rPr sz="2200" dirty="0">
                <a:latin typeface="Calibri"/>
                <a:cs typeface="Calibri"/>
              </a:rPr>
              <a:t>communicates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seamlessly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 a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backend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powered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SQLite,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reliable and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easy-</a:t>
            </a:r>
            <a:r>
              <a:rPr sz="2200" spc="-25" dirty="0">
                <a:latin typeface="Calibri"/>
                <a:cs typeface="Calibri"/>
              </a:rPr>
              <a:t>to- </a:t>
            </a:r>
            <a:r>
              <a:rPr sz="2200" dirty="0">
                <a:latin typeface="Calibri"/>
                <a:cs typeface="Calibri"/>
              </a:rPr>
              <a:t>manage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local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database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store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information,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expense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records,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budgets,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recurring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transactions.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trained machine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learning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models,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saved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joblib,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are </a:t>
            </a:r>
            <a:r>
              <a:rPr sz="2200" dirty="0">
                <a:latin typeface="Calibri"/>
                <a:cs typeface="Calibri"/>
              </a:rPr>
              <a:t>loaded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directly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Streamlit environment,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enabling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real-time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predictions</a:t>
            </a:r>
            <a:r>
              <a:rPr sz="2200" spc="55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without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requiring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external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server.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integrated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arrangement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ensures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fast </a:t>
            </a:r>
            <a:r>
              <a:rPr sz="2200" dirty="0">
                <a:latin typeface="Calibri"/>
                <a:cs typeface="Calibri"/>
              </a:rPr>
              <a:t>response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smooth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operation,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resource-limited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systems.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architecture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includes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secure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authentication using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SHA-256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hashing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protect</a:t>
            </a:r>
            <a:r>
              <a:rPr sz="2200" spc="5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 accounts,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while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Gemini API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incorporated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offer AI-driven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financial </a:t>
            </a:r>
            <a:r>
              <a:rPr sz="2200" spc="-10" dirty="0">
                <a:latin typeface="Calibri"/>
                <a:cs typeface="Calibri"/>
              </a:rPr>
              <a:t>advice. </a:t>
            </a:r>
            <a:r>
              <a:rPr sz="2200" dirty="0">
                <a:latin typeface="Calibri"/>
                <a:cs typeface="Calibri"/>
              </a:rPr>
              <a:t>Overall, 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architecture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designed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modular,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scalable,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simple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deploy,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making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suitable for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both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personal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small-scale </a:t>
            </a:r>
            <a:r>
              <a:rPr sz="2200" spc="-10" dirty="0">
                <a:latin typeface="Calibri"/>
                <a:cs typeface="Calibri"/>
              </a:rPr>
              <a:t>production environments.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0"/>
              </a:spcBef>
            </a:pPr>
            <a:r>
              <a:rPr dirty="0"/>
              <a:t>Web</a:t>
            </a:r>
            <a:r>
              <a:rPr spc="-114" dirty="0"/>
              <a:t> </a:t>
            </a:r>
            <a:r>
              <a:rPr spc="-10" dirty="0"/>
              <a:t>Application</a:t>
            </a:r>
            <a:r>
              <a:rPr spc="-114" dirty="0"/>
              <a:t> </a:t>
            </a:r>
            <a:r>
              <a:rPr spc="-10" dirty="0"/>
              <a:t>Features: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455" y="1669749"/>
            <a:ext cx="9902190" cy="4741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00"/>
              </a:spcBef>
            </a:pPr>
            <a:r>
              <a:rPr sz="2050" dirty="0">
                <a:latin typeface="Calibri"/>
                <a:cs typeface="Calibri"/>
              </a:rPr>
              <a:t>The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deployed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application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provides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comprehensive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suite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of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features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designed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to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simplify </a:t>
            </a:r>
            <a:r>
              <a:rPr sz="2050" dirty="0">
                <a:latin typeface="Calibri"/>
                <a:cs typeface="Calibri"/>
              </a:rPr>
              <a:t>financial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management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enhance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user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experience.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system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offers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secure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user </a:t>
            </a:r>
            <a:r>
              <a:rPr sz="2050" dirty="0">
                <a:latin typeface="Calibri"/>
                <a:cs typeface="Calibri"/>
              </a:rPr>
              <a:t>authentication,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allowing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individuals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to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create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accounts</a:t>
            </a:r>
            <a:r>
              <a:rPr sz="2050" spc="-6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access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personalized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financial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data </a:t>
            </a:r>
            <a:r>
              <a:rPr sz="2050" dirty="0">
                <a:latin typeface="Calibri"/>
                <a:cs typeface="Calibri"/>
              </a:rPr>
              <a:t>using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encrypted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credentials.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Once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logged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in,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users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can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add,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edit,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delete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expenses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while </a:t>
            </a:r>
            <a:r>
              <a:rPr sz="2050" dirty="0">
                <a:latin typeface="Calibri"/>
                <a:cs typeface="Calibri"/>
              </a:rPr>
              <a:t>optionally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attaching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receipt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images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for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better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record-</a:t>
            </a:r>
            <a:r>
              <a:rPr sz="2050" dirty="0">
                <a:latin typeface="Calibri"/>
                <a:cs typeface="Calibri"/>
              </a:rPr>
              <a:t>keeping.</a:t>
            </a:r>
            <a:r>
              <a:rPr sz="2050" spc="-6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application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also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enables </a:t>
            </a:r>
            <a:r>
              <a:rPr sz="2050" dirty="0">
                <a:latin typeface="Calibri"/>
                <a:cs typeface="Calibri"/>
              </a:rPr>
              <a:t>users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to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set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monthly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budgets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for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different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categories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track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their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spending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against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these </a:t>
            </a:r>
            <a:r>
              <a:rPr sz="2050" dirty="0">
                <a:latin typeface="Calibri"/>
                <a:cs typeface="Calibri"/>
              </a:rPr>
              <a:t>limits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through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intuitive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visualizations.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7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recurring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expense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module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automates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entries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for </a:t>
            </a:r>
            <a:r>
              <a:rPr sz="2050" dirty="0">
                <a:latin typeface="Calibri"/>
                <a:cs typeface="Calibri"/>
              </a:rPr>
              <a:t>predictable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costs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such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as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rent,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subscriptions,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or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utility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payments,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ensuring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that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all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financial </a:t>
            </a:r>
            <a:r>
              <a:rPr sz="2050" dirty="0">
                <a:latin typeface="Calibri"/>
                <a:cs typeface="Calibri"/>
              </a:rPr>
              <a:t>activity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remains</a:t>
            </a:r>
            <a:r>
              <a:rPr sz="2050" spc="-10" dirty="0">
                <a:latin typeface="Calibri"/>
                <a:cs typeface="Calibri"/>
              </a:rPr>
              <a:t> up-to-</a:t>
            </a:r>
            <a:r>
              <a:rPr sz="2050" dirty="0">
                <a:latin typeface="Calibri"/>
                <a:cs typeface="Calibri"/>
              </a:rPr>
              <a:t>date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without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manual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intervention.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integrated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AI-</a:t>
            </a:r>
            <a:r>
              <a:rPr sz="2050" spc="-10" dirty="0">
                <a:latin typeface="Calibri"/>
                <a:cs typeface="Calibri"/>
              </a:rPr>
              <a:t>powered forecasting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tool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allows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users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to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select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category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view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future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spending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predictions </a:t>
            </a:r>
            <a:r>
              <a:rPr sz="2050" dirty="0">
                <a:latin typeface="Calibri"/>
                <a:cs typeface="Calibri"/>
              </a:rPr>
              <a:t>through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dynamic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line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graphs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covering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next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7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to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90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days.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Additionally,</a:t>
            </a:r>
            <a:r>
              <a:rPr sz="2050" spc="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Gemini-based </a:t>
            </a:r>
            <a:r>
              <a:rPr sz="2050" dirty="0">
                <a:latin typeface="Calibri"/>
                <a:cs typeface="Calibri"/>
              </a:rPr>
              <a:t>financial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advisor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analyzes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recent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spending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patterns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to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provide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personalized</a:t>
            </a:r>
            <a:r>
              <a:rPr sz="2050" spc="509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recommendations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aimed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at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improving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financial</a:t>
            </a:r>
            <a:r>
              <a:rPr sz="2050" spc="-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health.</a:t>
            </a:r>
            <a:r>
              <a:rPr sz="2050" spc="-40" dirty="0">
                <a:latin typeface="Calibri"/>
                <a:cs typeface="Calibri"/>
              </a:rPr>
              <a:t> Together,</a:t>
            </a:r>
            <a:r>
              <a:rPr sz="2050" spc="-7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these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features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create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an </a:t>
            </a:r>
            <a:r>
              <a:rPr sz="2050" dirty="0">
                <a:latin typeface="Calibri"/>
                <a:cs typeface="Calibri"/>
              </a:rPr>
              <a:t>intelligent,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user-</a:t>
            </a:r>
            <a:r>
              <a:rPr sz="2050" dirty="0">
                <a:latin typeface="Calibri"/>
                <a:cs typeface="Calibri"/>
              </a:rPr>
              <a:t>friendly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platform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that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supports</a:t>
            </a:r>
            <a:r>
              <a:rPr sz="2050" spc="-8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effective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budgeting,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financial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awareness,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and </a:t>
            </a:r>
            <a:r>
              <a:rPr sz="2050" dirty="0">
                <a:latin typeface="Calibri"/>
                <a:cs typeface="Calibri"/>
              </a:rPr>
              <a:t>informed </a:t>
            </a:r>
            <a:r>
              <a:rPr sz="2050" spc="-10" dirty="0">
                <a:latin typeface="Calibri"/>
                <a:cs typeface="Calibri"/>
              </a:rPr>
              <a:t>decision-making.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425" y="1061736"/>
            <a:ext cx="526478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Model</a:t>
            </a:r>
            <a:r>
              <a:rPr spc="-60" dirty="0"/>
              <a:t> </a:t>
            </a:r>
            <a:r>
              <a:rPr spc="-20" dirty="0"/>
              <a:t>Integration</a:t>
            </a:r>
            <a:r>
              <a:rPr spc="-8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Backend</a:t>
            </a:r>
            <a:r>
              <a:rPr spc="-105" dirty="0"/>
              <a:t> </a:t>
            </a:r>
            <a:r>
              <a:rPr spc="-10" dirty="0"/>
              <a:t>Logic: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61" y="1456375"/>
            <a:ext cx="9693910" cy="5307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integration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machine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learning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into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application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designed</a:t>
            </a:r>
            <a:r>
              <a:rPr sz="2300" spc="-25" dirty="0">
                <a:latin typeface="Calibri"/>
                <a:cs typeface="Calibri"/>
              </a:rPr>
              <a:t> to </a:t>
            </a:r>
            <a:r>
              <a:rPr sz="2300" spc="-10" dirty="0">
                <a:latin typeface="Calibri"/>
                <a:cs typeface="Calibri"/>
              </a:rPr>
              <a:t>operate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seamlessly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within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Streamlit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environment,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ensuring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real-</a:t>
            </a:r>
            <a:r>
              <a:rPr sz="2300" spc="-20" dirty="0">
                <a:latin typeface="Calibri"/>
                <a:cs typeface="Calibri"/>
              </a:rPr>
              <a:t>time </a:t>
            </a:r>
            <a:r>
              <a:rPr sz="2300" dirty="0">
                <a:latin typeface="Calibri"/>
                <a:cs typeface="Calibri"/>
              </a:rPr>
              <a:t>predictions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smooth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user </a:t>
            </a:r>
            <a:r>
              <a:rPr sz="2300" spc="-10" dirty="0">
                <a:latin typeface="Calibri"/>
                <a:cs typeface="Calibri"/>
              </a:rPr>
              <a:t>interaction.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Once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ensemble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trained,</a:t>
            </a:r>
            <a:r>
              <a:rPr sz="2300" spc="-25" dirty="0">
                <a:latin typeface="Calibri"/>
                <a:cs typeface="Calibri"/>
              </a:rPr>
              <a:t> it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saved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using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joblib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loaded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directly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when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application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starts,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eliminating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need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external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servers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or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complex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APIs.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When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user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inputs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new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expense </a:t>
            </a:r>
            <a:r>
              <a:rPr sz="2300" spc="-20" dirty="0">
                <a:latin typeface="Calibri"/>
                <a:cs typeface="Calibri"/>
              </a:rPr>
              <a:t>information—</a:t>
            </a:r>
            <a:r>
              <a:rPr sz="2300" dirty="0">
                <a:latin typeface="Calibri"/>
                <a:cs typeface="Calibri"/>
              </a:rPr>
              <a:t>such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category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or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date—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backend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automatically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processes </a:t>
            </a:r>
            <a:r>
              <a:rPr sz="2300" dirty="0">
                <a:latin typeface="Calibri"/>
                <a:cs typeface="Calibri"/>
              </a:rPr>
              <a:t>these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values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same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feature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structure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during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training,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ensuring </a:t>
            </a:r>
            <a:r>
              <a:rPr sz="2300" dirty="0">
                <a:latin typeface="Calibri"/>
                <a:cs typeface="Calibri"/>
              </a:rPr>
              <a:t>consistency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compatibility.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forecasting,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system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generates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future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dates, </a:t>
            </a:r>
            <a:r>
              <a:rPr sz="2300" dirty="0">
                <a:latin typeface="Calibri"/>
                <a:cs typeface="Calibri"/>
              </a:rPr>
              <a:t>applies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predict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upcoming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expenses,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returns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these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results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the </a:t>
            </a:r>
            <a:r>
              <a:rPr sz="2300" dirty="0">
                <a:latin typeface="Calibri"/>
                <a:cs typeface="Calibri"/>
              </a:rPr>
              <a:t>front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end,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where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they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visualized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dynamic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line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graphs.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backend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also </a:t>
            </a:r>
            <a:r>
              <a:rPr sz="2300" dirty="0">
                <a:latin typeface="Calibri"/>
                <a:cs typeface="Calibri"/>
              </a:rPr>
              <a:t>handles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database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operations,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including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storing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retrieving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expenses,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updating </a:t>
            </a:r>
            <a:r>
              <a:rPr sz="2300" dirty="0">
                <a:latin typeface="Calibri"/>
                <a:cs typeface="Calibri"/>
              </a:rPr>
              <a:t>budgets,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managing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recurring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transactions,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ensuring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integrity.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Through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unified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logic,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application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maintains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robust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pipeline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from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user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input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to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inference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visualization,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enabling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efficient,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accurate,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responsive </a:t>
            </a:r>
            <a:r>
              <a:rPr sz="2300" dirty="0">
                <a:latin typeface="Calibri"/>
                <a:cs typeface="Calibri"/>
              </a:rPr>
              <a:t>financial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insights.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0"/>
              </a:spcBef>
            </a:pPr>
            <a:r>
              <a:rPr dirty="0"/>
              <a:t>Hosting</a:t>
            </a:r>
            <a:r>
              <a:rPr spc="-8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spc="-10" dirty="0"/>
              <a:t>Deployment</a:t>
            </a:r>
            <a:r>
              <a:rPr spc="-110" dirty="0"/>
              <a:t> </a:t>
            </a:r>
            <a:r>
              <a:rPr spc="-10" dirty="0"/>
              <a:t>Process: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61" y="1634750"/>
            <a:ext cx="9861550" cy="4954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final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stage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project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involves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deploying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application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way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that </a:t>
            </a:r>
            <a:r>
              <a:rPr sz="2300" dirty="0">
                <a:latin typeface="Calibri"/>
                <a:cs typeface="Calibri"/>
              </a:rPr>
              <a:t>makes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accessible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users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without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requiring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any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local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setup.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BudgetWise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AI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is </a:t>
            </a:r>
            <a:r>
              <a:rPr sz="2300" dirty="0">
                <a:latin typeface="Calibri"/>
                <a:cs typeface="Calibri"/>
              </a:rPr>
              <a:t>hosted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Streamlit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Cloud,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platform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allows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seamless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deployment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Python- </a:t>
            </a:r>
            <a:r>
              <a:rPr sz="2300" dirty="0">
                <a:latin typeface="Calibri"/>
                <a:cs typeface="Calibri"/>
              </a:rPr>
              <a:t>based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interactive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applications.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entire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project,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including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Streamlit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interface,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trained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machine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learning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 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SQLite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database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schema,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10" dirty="0">
                <a:latin typeface="Calibri"/>
                <a:cs typeface="Calibri"/>
              </a:rPr>
              <a:t> packaged </a:t>
            </a:r>
            <a:r>
              <a:rPr sz="2300" dirty="0">
                <a:latin typeface="Calibri"/>
                <a:cs typeface="Calibri"/>
              </a:rPr>
              <a:t>within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structured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repository.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When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uploaded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Streamlit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Cloud,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platform </a:t>
            </a:r>
            <a:r>
              <a:rPr sz="2300" dirty="0">
                <a:latin typeface="Calibri"/>
                <a:cs typeface="Calibri"/>
              </a:rPr>
              <a:t>automatically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installs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all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required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dependencies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listed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requirements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file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and </a:t>
            </a:r>
            <a:r>
              <a:rPr sz="2300" dirty="0">
                <a:latin typeface="Calibri"/>
                <a:cs typeface="Calibri"/>
              </a:rPr>
              <a:t>initializes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application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environment.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Sensitive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information,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such as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Gemini </a:t>
            </a:r>
            <a:r>
              <a:rPr sz="2300" dirty="0">
                <a:latin typeface="Calibri"/>
                <a:cs typeface="Calibri"/>
              </a:rPr>
              <a:t>API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45" dirty="0">
                <a:latin typeface="Calibri"/>
                <a:cs typeface="Calibri"/>
              </a:rPr>
              <a:t>key,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securely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stored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Streamlit’s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built-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secrets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management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system, preventing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exposure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public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codebase.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Once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deployed,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application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runs </a:t>
            </a:r>
            <a:r>
              <a:rPr sz="2300" dirty="0">
                <a:latin typeface="Calibri"/>
                <a:cs typeface="Calibri"/>
              </a:rPr>
              <a:t>on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managed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server, </a:t>
            </a:r>
            <a:r>
              <a:rPr sz="2300" dirty="0">
                <a:latin typeface="Calibri"/>
                <a:cs typeface="Calibri"/>
              </a:rPr>
              <a:t>loading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ML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startup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serving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interactive </a:t>
            </a:r>
            <a:r>
              <a:rPr sz="2300" dirty="0">
                <a:latin typeface="Calibri"/>
                <a:cs typeface="Calibri"/>
              </a:rPr>
              <a:t>dashboard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users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through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simple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web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link.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hosting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approach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provides reliability,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ease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access,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scalability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needed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support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multiple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users </a:t>
            </a:r>
            <a:r>
              <a:rPr sz="2300" dirty="0">
                <a:latin typeface="Calibri"/>
                <a:cs typeface="Calibri"/>
              </a:rPr>
              <a:t>while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maintaining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consistent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performance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security.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3034</Words>
  <Application>Microsoft Office PowerPoint</Application>
  <PresentationFormat>Custom</PresentationFormat>
  <Paragraphs>145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Microsoft YaHei Light</vt:lpstr>
      <vt:lpstr>Arial MT</vt:lpstr>
      <vt:lpstr>Calibri</vt:lpstr>
      <vt:lpstr>Times New Roman</vt:lpstr>
      <vt:lpstr>Office Theme</vt:lpstr>
      <vt:lpstr>BUDGETWISE AI BASED FORECASTING TOOL</vt:lpstr>
      <vt:lpstr>PROJECT AT A GLANCE</vt:lpstr>
      <vt:lpstr>MODEL DEVELOP</vt:lpstr>
      <vt:lpstr>ABSTRACT</vt:lpstr>
      <vt:lpstr>WHY THIS PROJECT</vt:lpstr>
      <vt:lpstr>OBJECTIVES</vt:lpstr>
      <vt:lpstr>PROPOSED SOLUTION</vt:lpstr>
      <vt:lpstr>DATASET DETAILS</vt:lpstr>
      <vt:lpstr>PARSING AND CLEANING</vt:lpstr>
      <vt:lpstr>Categorical Feature Preparation:</vt:lpstr>
      <vt:lpstr>FEATURE PREPARATION</vt:lpstr>
      <vt:lpstr>PowerPoint Presentation</vt:lpstr>
      <vt:lpstr>Ensuring Model-Ready Feature Inputs:</vt:lpstr>
      <vt:lpstr>TRAIN TEST SPLIT DATA</vt:lpstr>
      <vt:lpstr>TESTING THE MODEL WITH 20% OF THE DATA:</vt:lpstr>
      <vt:lpstr>DATA PREPARED FOR MODEL</vt:lpstr>
      <vt:lpstr>Model Selection &amp; Overview:</vt:lpstr>
      <vt:lpstr>Individual Model Training:</vt:lpstr>
      <vt:lpstr>Stacked Ensemble Architecture :</vt:lpstr>
      <vt:lpstr>Model Evaluation and Comparison:</vt:lpstr>
      <vt:lpstr>System Architecture:</vt:lpstr>
      <vt:lpstr>Web Application Features:</vt:lpstr>
      <vt:lpstr>Model Integration and Backend Logic:</vt:lpstr>
      <vt:lpstr>Hosting and Deployment Process: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INFOSYS FINAL PPT.pptx</dc:title>
  <dc:creator>kiran reddy</dc:creator>
  <cp:lastModifiedBy>Divya Sree</cp:lastModifiedBy>
  <cp:revision>1</cp:revision>
  <dcterms:created xsi:type="dcterms:W3CDTF">2025-12-15T13:45:57Z</dcterms:created>
  <dcterms:modified xsi:type="dcterms:W3CDTF">2025-12-15T13:47:24Z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2025-12-15T00:00:00Z</vt:filetime>
  </property>
  <property fmtid="{D5CDD505-2E9C-101B-9397-08002B2CF9AE}" pid="3" name="LastSaved">
    <vt:filetime>2025-12-15T00:00:00Z</vt:filetime>
  </property>
  <property fmtid="{D5CDD505-2E9C-101B-9397-08002B2CF9AE}" pid="4" name="Producer">
    <vt:lpwstr>Microsoft: Print To PDF</vt:lpwstr>
  </property>
</Properties>
</file>